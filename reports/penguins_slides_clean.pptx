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펭귄 데이터셋 분석</a:t>
            </a:r>
          </a:p>
        </p:txBody>
      </p:sp>
      <p:sp>
        <p:nvSpPr>
          <p:cNvPr id="3" name="Content Placeholder 2"/>
          <p:cNvSpPr>
            <a:spLocks noGrp="1"/>
          </p:cNvSpPr>
          <p:nvPr>
            <p:ph idx="1"/>
          </p:nvPr>
        </p:nvSpPr>
        <p:spPr/>
        <p:txBody>
          <a:bodyPr/>
          <a:lstStyle/>
          <a:p>
            <a:pPr lvl="0" indent="0" marL="0">
              <a:buNone/>
            </a:pPr>
            <a:r>
              <a:rPr/>
              <a:t>발표자: 자동 생성 스크립트 날짜: 자동</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데이터 개요</a:t>
            </a:r>
          </a:p>
        </p:txBody>
      </p:sp>
      <p:sp>
        <p:nvSpPr>
          <p:cNvPr id="4" name="Text Placeholder 3"/>
          <p:cNvSpPr>
            <a:spLocks noGrp="1"/>
          </p:cNvSpPr>
          <p:nvPr>
            <p:ph idx="2" sz="half" type="body"/>
          </p:nvPr>
        </p:nvSpPr>
        <p:spPr/>
        <p:txBody>
          <a:bodyPr/>
          <a:lstStyle/>
          <a:p>
            <a:pPr lvl="0"/>
            <a:r>
              <a:rPr/>
              <a:t>Shape: (344, 7)</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35000"/>
                <a:gridCol w="635000"/>
                <a:gridCol w="635000"/>
                <a:gridCol w="635000"/>
                <a:gridCol w="635000"/>
                <a:gridCol w="635000"/>
                <a:gridCol w="635000"/>
                <a:gridCol w="635000"/>
              </a:tblGrid>
              <a:tr h="0">
                <a:tc>
                  <a:txBody>
                    <a:bodyPr/>
                    <a:lstStyle/>
                    <a:p>
                      <a:endParaRPr/>
                    </a:p>
                  </a:txBody>
                  <a:tcPr/>
                </a:tc>
                <a:tc>
                  <a:txBody>
                    <a:bodyPr/>
                    <a:lstStyle/>
                    <a:p>
                      <a:pPr lvl="0" indent="0" marL="0" algn="l">
                        <a:buNone/>
                      </a:pPr>
                      <a:r>
                        <a:rPr/>
                        <a:t>species</a:t>
                      </a:r>
                    </a:p>
                  </a:txBody>
                  <a:tcPr/>
                </a:tc>
                <a:tc>
                  <a:txBody>
                    <a:bodyPr/>
                    <a:lstStyle/>
                    <a:p>
                      <a:pPr lvl="0" indent="0" marL="0" algn="l">
                        <a:buNone/>
                      </a:pPr>
                      <a:r>
                        <a:rPr/>
                        <a:t>island</a:t>
                      </a:r>
                    </a:p>
                  </a:txBody>
                  <a:tcPr/>
                </a:tc>
                <a:tc>
                  <a:txBody>
                    <a:bodyPr/>
                    <a:lstStyle/>
                    <a:p>
                      <a:pPr lvl="0" indent="0" marL="0" algn="r">
                        <a:buNone/>
                      </a:pPr>
                      <a:r>
                        <a:rPr/>
                        <a:t>bill_length_mm</a:t>
                      </a:r>
                    </a:p>
                  </a:txBody>
                  <a:tcPr/>
                </a:tc>
                <a:tc>
                  <a:txBody>
                    <a:bodyPr/>
                    <a:lstStyle/>
                    <a:p>
                      <a:pPr lvl="0" indent="0" marL="0" algn="r">
                        <a:buNone/>
                      </a:pPr>
                      <a:r>
                        <a:rPr/>
                        <a:t>bill_depth_mm</a:t>
                      </a:r>
                    </a:p>
                  </a:txBody>
                  <a:tcPr/>
                </a:tc>
                <a:tc>
                  <a:txBody>
                    <a:bodyPr/>
                    <a:lstStyle/>
                    <a:p>
                      <a:pPr lvl="0" indent="0" marL="0" algn="r">
                        <a:buNone/>
                      </a:pPr>
                      <a:r>
                        <a:rPr/>
                        <a:t>flipper_length_mm</a:t>
                      </a:r>
                    </a:p>
                  </a:txBody>
                  <a:tcPr/>
                </a:tc>
                <a:tc>
                  <a:txBody>
                    <a:bodyPr/>
                    <a:lstStyle/>
                    <a:p>
                      <a:pPr lvl="0" indent="0" marL="0" algn="r">
                        <a:buNone/>
                      </a:pPr>
                      <a:r>
                        <a:rPr/>
                        <a:t>body_mass_g</a:t>
                      </a:r>
                    </a:p>
                  </a:txBody>
                  <a:tcPr/>
                </a:tc>
                <a:tc>
                  <a:txBody>
                    <a:bodyPr/>
                    <a:lstStyle/>
                    <a:p>
                      <a:pPr lvl="0" indent="0" marL="0" algn="l">
                        <a:buNone/>
                      </a:pPr>
                      <a:r>
                        <a:rPr/>
                        <a:t>sex</a:t>
                      </a:r>
                    </a:p>
                  </a:txBody>
                  <a:tcPr/>
                </a:tc>
              </a:tr>
              <a:tr h="0">
                <a:tc>
                  <a:txBody>
                    <a:bodyPr/>
                    <a:lstStyle/>
                    <a:p>
                      <a:pPr lvl="0" indent="0" marL="0" algn="r">
                        <a:buNone/>
                      </a:pPr>
                      <a:r>
                        <a:rPr/>
                        <a:t>0</a:t>
                      </a:r>
                    </a:p>
                  </a:txBody>
                </a:tc>
                <a:tc>
                  <a:txBody>
                    <a:bodyPr/>
                    <a:lstStyle/>
                    <a:p>
                      <a:pPr lvl="0" indent="0" marL="0" algn="l">
                        <a:buNone/>
                      </a:pPr>
                      <a:r>
                        <a:rPr/>
                        <a:t>Adelie</a:t>
                      </a:r>
                    </a:p>
                  </a:txBody>
                </a:tc>
                <a:tc>
                  <a:txBody>
                    <a:bodyPr/>
                    <a:lstStyle/>
                    <a:p>
                      <a:pPr lvl="0" indent="0" marL="0" algn="l">
                        <a:buNone/>
                      </a:pPr>
                      <a:r>
                        <a:rPr/>
                        <a:t>Torgersen</a:t>
                      </a:r>
                    </a:p>
                  </a:txBody>
                </a:tc>
                <a:tc>
                  <a:txBody>
                    <a:bodyPr/>
                    <a:lstStyle/>
                    <a:p>
                      <a:pPr lvl="0" indent="0" marL="0" algn="r">
                        <a:buNone/>
                      </a:pPr>
                      <a:r>
                        <a:rPr/>
                        <a:t>39.1</a:t>
                      </a:r>
                    </a:p>
                  </a:txBody>
                </a:tc>
                <a:tc>
                  <a:txBody>
                    <a:bodyPr/>
                    <a:lstStyle/>
                    <a:p>
                      <a:pPr lvl="0" indent="0" marL="0" algn="r">
                        <a:buNone/>
                      </a:pPr>
                      <a:r>
                        <a:rPr/>
                        <a:t>18.7</a:t>
                      </a:r>
                    </a:p>
                  </a:txBody>
                </a:tc>
                <a:tc>
                  <a:txBody>
                    <a:bodyPr/>
                    <a:lstStyle/>
                    <a:p>
                      <a:pPr lvl="0" indent="0" marL="0" algn="r">
                        <a:buNone/>
                      </a:pPr>
                      <a:r>
                        <a:rPr/>
                        <a:t>181</a:t>
                      </a:r>
                    </a:p>
                  </a:txBody>
                </a:tc>
                <a:tc>
                  <a:txBody>
                    <a:bodyPr/>
                    <a:lstStyle/>
                    <a:p>
                      <a:pPr lvl="0" indent="0" marL="0" algn="r">
                        <a:buNone/>
                      </a:pPr>
                      <a:r>
                        <a:rPr/>
                        <a:t>3750</a:t>
                      </a:r>
                    </a:p>
                  </a:txBody>
                </a:tc>
                <a:tc>
                  <a:txBody>
                    <a:bodyPr/>
                    <a:lstStyle/>
                    <a:p>
                      <a:pPr lvl="0" indent="0" marL="0" algn="l">
                        <a:buNone/>
                      </a:pPr>
                      <a:r>
                        <a:rPr/>
                        <a:t>Male</a:t>
                      </a:r>
                    </a:p>
                  </a:txBody>
                </a:tc>
              </a:tr>
              <a:tr h="0">
                <a:tc>
                  <a:txBody>
                    <a:bodyPr/>
                    <a:lstStyle/>
                    <a:p>
                      <a:pPr lvl="0" indent="0" marL="0" algn="r">
                        <a:buNone/>
                      </a:pPr>
                      <a:r>
                        <a:rPr/>
                        <a:t>1</a:t>
                      </a:r>
                    </a:p>
                  </a:txBody>
                </a:tc>
                <a:tc>
                  <a:txBody>
                    <a:bodyPr/>
                    <a:lstStyle/>
                    <a:p>
                      <a:pPr lvl="0" indent="0" marL="0" algn="l">
                        <a:buNone/>
                      </a:pPr>
                      <a:r>
                        <a:rPr/>
                        <a:t>Adelie</a:t>
                      </a:r>
                    </a:p>
                  </a:txBody>
                </a:tc>
                <a:tc>
                  <a:txBody>
                    <a:bodyPr/>
                    <a:lstStyle/>
                    <a:p>
                      <a:pPr lvl="0" indent="0" marL="0" algn="l">
                        <a:buNone/>
                      </a:pPr>
                      <a:r>
                        <a:rPr/>
                        <a:t>Torgersen</a:t>
                      </a:r>
                    </a:p>
                  </a:txBody>
                </a:tc>
                <a:tc>
                  <a:txBody>
                    <a:bodyPr/>
                    <a:lstStyle/>
                    <a:p>
                      <a:pPr lvl="0" indent="0" marL="0" algn="r">
                        <a:buNone/>
                      </a:pPr>
                      <a:r>
                        <a:rPr/>
                        <a:t>39.5</a:t>
                      </a:r>
                    </a:p>
                  </a:txBody>
                </a:tc>
                <a:tc>
                  <a:txBody>
                    <a:bodyPr/>
                    <a:lstStyle/>
                    <a:p>
                      <a:pPr lvl="0" indent="0" marL="0" algn="r">
                        <a:buNone/>
                      </a:pPr>
                      <a:r>
                        <a:rPr/>
                        <a:t>17.4</a:t>
                      </a:r>
                    </a:p>
                  </a:txBody>
                </a:tc>
                <a:tc>
                  <a:txBody>
                    <a:bodyPr/>
                    <a:lstStyle/>
                    <a:p>
                      <a:pPr lvl="0" indent="0" marL="0" algn="r">
                        <a:buNone/>
                      </a:pPr>
                      <a:r>
                        <a:rPr/>
                        <a:t>186</a:t>
                      </a:r>
                    </a:p>
                  </a:txBody>
                </a:tc>
                <a:tc>
                  <a:txBody>
                    <a:bodyPr/>
                    <a:lstStyle/>
                    <a:p>
                      <a:pPr lvl="0" indent="0" marL="0" algn="r">
                        <a:buNone/>
                      </a:pPr>
                      <a:r>
                        <a:rPr/>
                        <a:t>3800</a:t>
                      </a:r>
                    </a:p>
                  </a:txBody>
                </a:tc>
                <a:tc>
                  <a:txBody>
                    <a:bodyPr/>
                    <a:lstStyle/>
                    <a:p>
                      <a:pPr lvl="0" indent="0" marL="0" algn="l">
                        <a:buNone/>
                      </a:pPr>
                      <a:r>
                        <a:rPr/>
                        <a:t>Female</a:t>
                      </a:r>
                    </a:p>
                  </a:txBody>
                </a:tc>
              </a:tr>
              <a:tr h="0">
                <a:tc>
                  <a:txBody>
                    <a:bodyPr/>
                    <a:lstStyle/>
                    <a:p>
                      <a:pPr lvl="0" indent="0" marL="0" algn="r">
                        <a:buNone/>
                      </a:pPr>
                      <a:r>
                        <a:rPr/>
                        <a:t>2</a:t>
                      </a:r>
                    </a:p>
                  </a:txBody>
                </a:tc>
                <a:tc>
                  <a:txBody>
                    <a:bodyPr/>
                    <a:lstStyle/>
                    <a:p>
                      <a:pPr lvl="0" indent="0" marL="0" algn="l">
                        <a:buNone/>
                      </a:pPr>
                      <a:r>
                        <a:rPr/>
                        <a:t>Adelie</a:t>
                      </a:r>
                    </a:p>
                  </a:txBody>
                </a:tc>
                <a:tc>
                  <a:txBody>
                    <a:bodyPr/>
                    <a:lstStyle/>
                    <a:p>
                      <a:pPr lvl="0" indent="0" marL="0" algn="l">
                        <a:buNone/>
                      </a:pPr>
                      <a:r>
                        <a:rPr/>
                        <a:t>Torgersen</a:t>
                      </a:r>
                    </a:p>
                  </a:txBody>
                </a:tc>
                <a:tc>
                  <a:txBody>
                    <a:bodyPr/>
                    <a:lstStyle/>
                    <a:p>
                      <a:pPr lvl="0" indent="0" marL="0" algn="r">
                        <a:buNone/>
                      </a:pPr>
                      <a:r>
                        <a:rPr/>
                        <a:t>40.3</a:t>
                      </a:r>
                    </a:p>
                  </a:txBody>
                </a:tc>
                <a:tc>
                  <a:txBody>
                    <a:bodyPr/>
                    <a:lstStyle/>
                    <a:p>
                      <a:pPr lvl="0" indent="0" marL="0" algn="r">
                        <a:buNone/>
                      </a:pPr>
                      <a:r>
                        <a:rPr/>
                        <a:t>18</a:t>
                      </a:r>
                    </a:p>
                  </a:txBody>
                </a:tc>
                <a:tc>
                  <a:txBody>
                    <a:bodyPr/>
                    <a:lstStyle/>
                    <a:p>
                      <a:pPr lvl="0" indent="0" marL="0" algn="r">
                        <a:buNone/>
                      </a:pPr>
                      <a:r>
                        <a:rPr/>
                        <a:t>195</a:t>
                      </a:r>
                    </a:p>
                  </a:txBody>
                </a:tc>
                <a:tc>
                  <a:txBody>
                    <a:bodyPr/>
                    <a:lstStyle/>
                    <a:p>
                      <a:pPr lvl="0" indent="0" marL="0" algn="r">
                        <a:buNone/>
                      </a:pPr>
                      <a:r>
                        <a:rPr/>
                        <a:t>3250</a:t>
                      </a:r>
                    </a:p>
                  </a:txBody>
                </a:tc>
                <a:tc>
                  <a:txBody>
                    <a:bodyPr/>
                    <a:lstStyle/>
                    <a:p>
                      <a:pPr lvl="0" indent="0" marL="0" algn="l">
                        <a:buNone/>
                      </a:pPr>
                      <a:r>
                        <a:rPr/>
                        <a:t>Female</a:t>
                      </a:r>
                    </a:p>
                  </a:txBody>
                </a:tc>
              </a:tr>
              <a:tr h="0">
                <a:tc>
                  <a:txBody>
                    <a:bodyPr/>
                    <a:lstStyle/>
                    <a:p>
                      <a:pPr lvl="0" indent="0" marL="0" algn="r">
                        <a:buNone/>
                      </a:pPr>
                      <a:r>
                        <a:rPr/>
                        <a:t>3</a:t>
                      </a:r>
                    </a:p>
                  </a:txBody>
                </a:tc>
                <a:tc>
                  <a:txBody>
                    <a:bodyPr/>
                    <a:lstStyle/>
                    <a:p>
                      <a:pPr lvl="0" indent="0" marL="0" algn="l">
                        <a:buNone/>
                      </a:pPr>
                      <a:r>
                        <a:rPr/>
                        <a:t>Adelie</a:t>
                      </a:r>
                    </a:p>
                  </a:txBody>
                </a:tc>
                <a:tc>
                  <a:txBody>
                    <a:bodyPr/>
                    <a:lstStyle/>
                    <a:p>
                      <a:pPr lvl="0" indent="0" marL="0" algn="l">
                        <a:buNone/>
                      </a:pPr>
                      <a:r>
                        <a:rPr/>
                        <a:t>Torgersen</a:t>
                      </a:r>
                    </a:p>
                  </a:txBody>
                </a:tc>
                <a:tc>
                  <a:txBody>
                    <a:bodyPr/>
                    <a:lstStyle/>
                    <a:p>
                      <a:pPr lvl="0" indent="0" marL="0" algn="r">
                        <a:buNone/>
                      </a:pPr>
                      <a:r>
                        <a:rPr/>
                        <a:t>nan</a:t>
                      </a:r>
                    </a:p>
                  </a:txBody>
                </a:tc>
                <a:tc>
                  <a:txBody>
                    <a:bodyPr/>
                    <a:lstStyle/>
                    <a:p>
                      <a:pPr lvl="0" indent="0" marL="0" algn="r">
                        <a:buNone/>
                      </a:pPr>
                      <a:r>
                        <a:rPr/>
                        <a:t>nan</a:t>
                      </a:r>
                    </a:p>
                  </a:txBody>
                </a:tc>
                <a:tc>
                  <a:txBody>
                    <a:bodyPr/>
                    <a:lstStyle/>
                    <a:p>
                      <a:pPr lvl="0" indent="0" marL="0" algn="r">
                        <a:buNone/>
                      </a:pPr>
                      <a:r>
                        <a:rPr/>
                        <a:t>nan</a:t>
                      </a:r>
                    </a:p>
                  </a:txBody>
                </a:tc>
                <a:tc>
                  <a:txBody>
                    <a:bodyPr/>
                    <a:lstStyle/>
                    <a:p>
                      <a:pPr lvl="0" indent="0" marL="0" algn="r">
                        <a:buNone/>
                      </a:pPr>
                      <a:r>
                        <a:rPr/>
                        <a:t>nan</a:t>
                      </a:r>
                    </a:p>
                  </a:txBody>
                </a:tc>
                <a:tc>
                  <a:txBody>
                    <a:bodyPr/>
                    <a:lstStyle/>
                    <a:p>
                      <a:pPr lvl="0" indent="0" marL="0" algn="l">
                        <a:buNone/>
                      </a:pPr>
                      <a:r>
                        <a:rPr/>
                        <a:t>nan</a:t>
                      </a:r>
                    </a:p>
                  </a:txBody>
                </a:tc>
              </a:tr>
              <a:tr h="0">
                <a:tc>
                  <a:txBody>
                    <a:bodyPr/>
                    <a:lstStyle/>
                    <a:p>
                      <a:pPr lvl="0" indent="0" marL="0" algn="r">
                        <a:buNone/>
                      </a:pPr>
                      <a:r>
                        <a:rPr/>
                        <a:t>4</a:t>
                      </a:r>
                    </a:p>
                  </a:txBody>
                </a:tc>
                <a:tc>
                  <a:txBody>
                    <a:bodyPr/>
                    <a:lstStyle/>
                    <a:p>
                      <a:pPr lvl="0" indent="0" marL="0" algn="l">
                        <a:buNone/>
                      </a:pPr>
                      <a:r>
                        <a:rPr/>
                        <a:t>Adelie</a:t>
                      </a:r>
                    </a:p>
                  </a:txBody>
                </a:tc>
                <a:tc>
                  <a:txBody>
                    <a:bodyPr/>
                    <a:lstStyle/>
                    <a:p>
                      <a:pPr lvl="0" indent="0" marL="0" algn="l">
                        <a:buNone/>
                      </a:pPr>
                      <a:r>
                        <a:rPr/>
                        <a:t>Torgersen</a:t>
                      </a:r>
                    </a:p>
                  </a:txBody>
                </a:tc>
                <a:tc>
                  <a:txBody>
                    <a:bodyPr/>
                    <a:lstStyle/>
                    <a:p>
                      <a:pPr lvl="0" indent="0" marL="0" algn="r">
                        <a:buNone/>
                      </a:pPr>
                      <a:r>
                        <a:rPr/>
                        <a:t>36.7</a:t>
                      </a:r>
                    </a:p>
                  </a:txBody>
                </a:tc>
                <a:tc>
                  <a:txBody>
                    <a:bodyPr/>
                    <a:lstStyle/>
                    <a:p>
                      <a:pPr lvl="0" indent="0" marL="0" algn="r">
                        <a:buNone/>
                      </a:pPr>
                      <a:r>
                        <a:rPr/>
                        <a:t>19.3</a:t>
                      </a:r>
                    </a:p>
                  </a:txBody>
                </a:tc>
                <a:tc>
                  <a:txBody>
                    <a:bodyPr/>
                    <a:lstStyle/>
                    <a:p>
                      <a:pPr lvl="0" indent="0" marL="0" algn="r">
                        <a:buNone/>
                      </a:pPr>
                      <a:r>
                        <a:rPr/>
                        <a:t>193</a:t>
                      </a:r>
                    </a:p>
                  </a:txBody>
                </a:tc>
                <a:tc>
                  <a:txBody>
                    <a:bodyPr/>
                    <a:lstStyle/>
                    <a:p>
                      <a:pPr lvl="0" indent="0" marL="0" algn="r">
                        <a:buNone/>
                      </a:pPr>
                      <a:r>
                        <a:rPr/>
                        <a:t>3450</a:t>
                      </a:r>
                    </a:p>
                  </a:txBody>
                </a:tc>
                <a:tc>
                  <a:txBody>
                    <a:bodyPr/>
                    <a:lstStyle/>
                    <a:p>
                      <a:pPr lvl="0" indent="0" marL="0" algn="l">
                        <a:buNone/>
                      </a:pPr>
                      <a:r>
                        <a:rPr/>
                        <a:t>Female</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결측치 및 요약 통계</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endParaRPr/>
                    </a:p>
                  </a:txBody>
                  <a:tcPr/>
                </a:tc>
                <a:tc>
                  <a:txBody>
                    <a:bodyPr/>
                    <a:lstStyle/>
                    <a:p>
                      <a:pPr lvl="0" indent="0" marL="0" algn="r">
                        <a:buNone/>
                      </a:pPr>
                      <a:r>
                        <a:rPr/>
                        <a:t>0</a:t>
                      </a:r>
                    </a:p>
                  </a:txBody>
                  <a:tcPr/>
                </a:tc>
              </a:tr>
              <a:tr h="0">
                <a:tc>
                  <a:txBody>
                    <a:bodyPr/>
                    <a:lstStyle/>
                    <a:p>
                      <a:pPr lvl="0" indent="0" marL="0" algn="l">
                        <a:buNone/>
                      </a:pPr>
                      <a:r>
                        <a:rPr/>
                        <a:t>species</a:t>
                      </a:r>
                    </a:p>
                  </a:txBody>
                </a:tc>
                <a:tc>
                  <a:txBody>
                    <a:bodyPr/>
                    <a:lstStyle/>
                    <a:p>
                      <a:pPr lvl="0" indent="0" marL="0" algn="r">
                        <a:buNone/>
                      </a:pPr>
                      <a:r>
                        <a:rPr/>
                        <a:t>0</a:t>
                      </a:r>
                    </a:p>
                  </a:txBody>
                </a:tc>
              </a:tr>
              <a:tr h="0">
                <a:tc>
                  <a:txBody>
                    <a:bodyPr/>
                    <a:lstStyle/>
                    <a:p>
                      <a:pPr lvl="0" indent="0" marL="0" algn="l">
                        <a:buNone/>
                      </a:pPr>
                      <a:r>
                        <a:rPr/>
                        <a:t>island</a:t>
                      </a:r>
                    </a:p>
                  </a:txBody>
                </a:tc>
                <a:tc>
                  <a:txBody>
                    <a:bodyPr/>
                    <a:lstStyle/>
                    <a:p>
                      <a:pPr lvl="0" indent="0" marL="0" algn="r">
                        <a:buNone/>
                      </a:pPr>
                      <a:r>
                        <a:rPr/>
                        <a:t>0</a:t>
                      </a:r>
                    </a:p>
                  </a:txBody>
                </a:tc>
              </a:tr>
              <a:tr h="0">
                <a:tc>
                  <a:txBody>
                    <a:bodyPr/>
                    <a:lstStyle/>
                    <a:p>
                      <a:pPr lvl="0" indent="0" marL="0" algn="l">
                        <a:buNone/>
                      </a:pPr>
                      <a:r>
                        <a:rPr/>
                        <a:t>bill_length_mm</a:t>
                      </a:r>
                    </a:p>
                  </a:txBody>
                </a:tc>
                <a:tc>
                  <a:txBody>
                    <a:bodyPr/>
                    <a:lstStyle/>
                    <a:p>
                      <a:pPr lvl="0" indent="0" marL="0" algn="r">
                        <a:buNone/>
                      </a:pPr>
                      <a:r>
                        <a:rPr/>
                        <a:t>2</a:t>
                      </a:r>
                    </a:p>
                  </a:txBody>
                </a:tc>
              </a:tr>
              <a:tr h="0">
                <a:tc>
                  <a:txBody>
                    <a:bodyPr/>
                    <a:lstStyle/>
                    <a:p>
                      <a:pPr lvl="0" indent="0" marL="0" algn="l">
                        <a:buNone/>
                      </a:pPr>
                      <a:r>
                        <a:rPr/>
                        <a:t>bill_depth_mm</a:t>
                      </a:r>
                    </a:p>
                  </a:txBody>
                </a:tc>
                <a:tc>
                  <a:txBody>
                    <a:bodyPr/>
                    <a:lstStyle/>
                    <a:p>
                      <a:pPr lvl="0" indent="0" marL="0" algn="r">
                        <a:buNone/>
                      </a:pPr>
                      <a:r>
                        <a:rPr/>
                        <a:t>2</a:t>
                      </a:r>
                    </a:p>
                  </a:txBody>
                </a:tc>
              </a:tr>
              <a:tr h="0">
                <a:tc>
                  <a:txBody>
                    <a:bodyPr/>
                    <a:lstStyle/>
                    <a:p>
                      <a:pPr lvl="0" indent="0" marL="0" algn="l">
                        <a:buNone/>
                      </a:pPr>
                      <a:r>
                        <a:rPr/>
                        <a:t>flipper_length_mm</a:t>
                      </a:r>
                    </a:p>
                  </a:txBody>
                </a:tc>
                <a:tc>
                  <a:txBody>
                    <a:bodyPr/>
                    <a:lstStyle/>
                    <a:p>
                      <a:pPr lvl="0" indent="0" marL="0" algn="r">
                        <a:buNone/>
                      </a:pPr>
                      <a:r>
                        <a:rPr/>
                        <a:t>2</a:t>
                      </a:r>
                    </a:p>
                  </a:txBody>
                </a:tc>
              </a:tr>
              <a:tr h="0">
                <a:tc>
                  <a:txBody>
                    <a:bodyPr/>
                    <a:lstStyle/>
                    <a:p>
                      <a:pPr lvl="0" indent="0" marL="0" algn="l">
                        <a:buNone/>
                      </a:pPr>
                      <a:r>
                        <a:rPr/>
                        <a:t>body_mass_g</a:t>
                      </a:r>
                    </a:p>
                  </a:txBody>
                </a:tc>
                <a:tc>
                  <a:txBody>
                    <a:bodyPr/>
                    <a:lstStyle/>
                    <a:p>
                      <a:pPr lvl="0" indent="0" marL="0" algn="r">
                        <a:buNone/>
                      </a:pPr>
                      <a:r>
                        <a:rPr/>
                        <a:t>2</a:t>
                      </a:r>
                    </a:p>
                  </a:txBody>
                </a:tc>
              </a:tr>
              <a:tr h="0">
                <a:tc>
                  <a:txBody>
                    <a:bodyPr/>
                    <a:lstStyle/>
                    <a:p>
                      <a:pPr lvl="0" indent="0" marL="0" algn="l">
                        <a:buNone/>
                      </a:pPr>
                      <a:r>
                        <a:rPr/>
                        <a:t>sex</a:t>
                      </a:r>
                    </a:p>
                  </a:txBody>
                </a:tc>
                <a:tc>
                  <a:txBody>
                    <a:bodyPr/>
                    <a:lstStyle/>
                    <a:p>
                      <a:pPr lvl="0" indent="0" marL="0" algn="r">
                        <a:buNone/>
                      </a:pPr>
                      <a:r>
                        <a:rPr/>
                        <a:t>11</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638300"/>
                <a:gridCol w="1638300"/>
                <a:gridCol w="1638300"/>
                <a:gridCol w="1638300"/>
                <a:gridCol w="1638300"/>
              </a:tblGrid>
              <a:tr h="0">
                <a:tc>
                  <a:txBody>
                    <a:bodyPr/>
                    <a:lstStyle/>
                    <a:p>
                      <a:endParaRPr/>
                    </a:p>
                  </a:txBody>
                  <a:tcPr/>
                </a:tc>
                <a:tc>
                  <a:txBody>
                    <a:bodyPr/>
                    <a:lstStyle/>
                    <a:p>
                      <a:pPr lvl="0" indent="0" marL="0" algn="r">
                        <a:buNone/>
                      </a:pPr>
                      <a:r>
                        <a:rPr/>
                        <a:t>bill_length_mm</a:t>
                      </a:r>
                    </a:p>
                  </a:txBody>
                  <a:tcPr/>
                </a:tc>
                <a:tc>
                  <a:txBody>
                    <a:bodyPr/>
                    <a:lstStyle/>
                    <a:p>
                      <a:pPr lvl="0" indent="0" marL="0" algn="r">
                        <a:buNone/>
                      </a:pPr>
                      <a:r>
                        <a:rPr/>
                        <a:t>bill_depth_mm</a:t>
                      </a:r>
                    </a:p>
                  </a:txBody>
                  <a:tcPr/>
                </a:tc>
                <a:tc>
                  <a:txBody>
                    <a:bodyPr/>
                    <a:lstStyle/>
                    <a:p>
                      <a:pPr lvl="0" indent="0" marL="0" algn="r">
                        <a:buNone/>
                      </a:pPr>
                      <a:r>
                        <a:rPr/>
                        <a:t>flipper_length_mm</a:t>
                      </a:r>
                    </a:p>
                  </a:txBody>
                  <a:tcPr/>
                </a:tc>
                <a:tc>
                  <a:txBody>
                    <a:bodyPr/>
                    <a:lstStyle/>
                    <a:p>
                      <a:pPr lvl="0" indent="0" marL="0" algn="r">
                        <a:buNone/>
                      </a:pPr>
                      <a:r>
                        <a:rPr/>
                        <a:t>body_mass_g</a:t>
                      </a:r>
                    </a:p>
                  </a:txBody>
                  <a:tcPr/>
                </a:tc>
              </a:tr>
              <a:tr h="0">
                <a:tc>
                  <a:txBody>
                    <a:bodyPr/>
                    <a:lstStyle/>
                    <a:p>
                      <a:pPr lvl="0" indent="0" marL="0" algn="l">
                        <a:buNone/>
                      </a:pPr>
                      <a:r>
                        <a:rPr/>
                        <a:t>count</a:t>
                      </a:r>
                    </a:p>
                  </a:txBody>
                </a:tc>
                <a:tc>
                  <a:txBody>
                    <a:bodyPr/>
                    <a:lstStyle/>
                    <a:p>
                      <a:pPr lvl="0" indent="0" marL="0" algn="r">
                        <a:buNone/>
                      </a:pPr>
                      <a:r>
                        <a:rPr/>
                        <a:t>333</a:t>
                      </a:r>
                    </a:p>
                  </a:txBody>
                </a:tc>
                <a:tc>
                  <a:txBody>
                    <a:bodyPr/>
                    <a:lstStyle/>
                    <a:p>
                      <a:pPr lvl="0" indent="0" marL="0" algn="r">
                        <a:buNone/>
                      </a:pPr>
                      <a:r>
                        <a:rPr/>
                        <a:t>333</a:t>
                      </a:r>
                    </a:p>
                  </a:txBody>
                </a:tc>
                <a:tc>
                  <a:txBody>
                    <a:bodyPr/>
                    <a:lstStyle/>
                    <a:p>
                      <a:pPr lvl="0" indent="0" marL="0" algn="r">
                        <a:buNone/>
                      </a:pPr>
                      <a:r>
                        <a:rPr/>
                        <a:t>333</a:t>
                      </a:r>
                    </a:p>
                  </a:txBody>
                </a:tc>
                <a:tc>
                  <a:txBody>
                    <a:bodyPr/>
                    <a:lstStyle/>
                    <a:p>
                      <a:pPr lvl="0" indent="0" marL="0" algn="r">
                        <a:buNone/>
                      </a:pPr>
                      <a:r>
                        <a:rPr/>
                        <a:t>333</a:t>
                      </a:r>
                    </a:p>
                  </a:txBody>
                </a:tc>
              </a:tr>
              <a:tr h="0">
                <a:tc>
                  <a:txBody>
                    <a:bodyPr/>
                    <a:lstStyle/>
                    <a:p>
                      <a:pPr lvl="0" indent="0" marL="0" algn="l">
                        <a:buNone/>
                      </a:pPr>
                      <a:r>
                        <a:rPr/>
                        <a:t>mean</a:t>
                      </a:r>
                    </a:p>
                  </a:txBody>
                </a:tc>
                <a:tc>
                  <a:txBody>
                    <a:bodyPr/>
                    <a:lstStyle/>
                    <a:p>
                      <a:pPr lvl="0" indent="0" marL="0" algn="r">
                        <a:buNone/>
                      </a:pPr>
                      <a:r>
                        <a:rPr/>
                        <a:t>43.9928</a:t>
                      </a:r>
                    </a:p>
                  </a:txBody>
                </a:tc>
                <a:tc>
                  <a:txBody>
                    <a:bodyPr/>
                    <a:lstStyle/>
                    <a:p>
                      <a:pPr lvl="0" indent="0" marL="0" algn="r">
                        <a:buNone/>
                      </a:pPr>
                      <a:r>
                        <a:rPr/>
                        <a:t>17.1649</a:t>
                      </a:r>
                    </a:p>
                  </a:txBody>
                </a:tc>
                <a:tc>
                  <a:txBody>
                    <a:bodyPr/>
                    <a:lstStyle/>
                    <a:p>
                      <a:pPr lvl="0" indent="0" marL="0" algn="r">
                        <a:buNone/>
                      </a:pPr>
                      <a:r>
                        <a:rPr/>
                        <a:t>200.967</a:t>
                      </a:r>
                    </a:p>
                  </a:txBody>
                </a:tc>
                <a:tc>
                  <a:txBody>
                    <a:bodyPr/>
                    <a:lstStyle/>
                    <a:p>
                      <a:pPr lvl="0" indent="0" marL="0" algn="r">
                        <a:buNone/>
                      </a:pPr>
                      <a:r>
                        <a:rPr/>
                        <a:t>4207.06</a:t>
                      </a:r>
                    </a:p>
                  </a:txBody>
                </a:tc>
              </a:tr>
              <a:tr h="0">
                <a:tc>
                  <a:txBody>
                    <a:bodyPr/>
                    <a:lstStyle/>
                    <a:p>
                      <a:pPr lvl="0" indent="0" marL="0" algn="l">
                        <a:buNone/>
                      </a:pPr>
                      <a:r>
                        <a:rPr/>
                        <a:t>std</a:t>
                      </a:r>
                    </a:p>
                  </a:txBody>
                </a:tc>
                <a:tc>
                  <a:txBody>
                    <a:bodyPr/>
                    <a:lstStyle/>
                    <a:p>
                      <a:pPr lvl="0" indent="0" marL="0" algn="r">
                        <a:buNone/>
                      </a:pPr>
                      <a:r>
                        <a:rPr/>
                        <a:t>5.46867</a:t>
                      </a:r>
                    </a:p>
                  </a:txBody>
                </a:tc>
                <a:tc>
                  <a:txBody>
                    <a:bodyPr/>
                    <a:lstStyle/>
                    <a:p>
                      <a:pPr lvl="0" indent="0" marL="0" algn="r">
                        <a:buNone/>
                      </a:pPr>
                      <a:r>
                        <a:rPr/>
                        <a:t>1.96924</a:t>
                      </a:r>
                    </a:p>
                  </a:txBody>
                </a:tc>
                <a:tc>
                  <a:txBody>
                    <a:bodyPr/>
                    <a:lstStyle/>
                    <a:p>
                      <a:pPr lvl="0" indent="0" marL="0" algn="r">
                        <a:buNone/>
                      </a:pPr>
                      <a:r>
                        <a:rPr/>
                        <a:t>14.0158</a:t>
                      </a:r>
                    </a:p>
                  </a:txBody>
                </a:tc>
                <a:tc>
                  <a:txBody>
                    <a:bodyPr/>
                    <a:lstStyle/>
                    <a:p>
                      <a:pPr lvl="0" indent="0" marL="0" algn="r">
                        <a:buNone/>
                      </a:pPr>
                      <a:r>
                        <a:rPr/>
                        <a:t>805.216</a:t>
                      </a:r>
                    </a:p>
                  </a:txBody>
                </a:tc>
              </a:tr>
              <a:tr h="0">
                <a:tc>
                  <a:txBody>
                    <a:bodyPr/>
                    <a:lstStyle/>
                    <a:p>
                      <a:pPr lvl="0" indent="0" marL="0" algn="l">
                        <a:buNone/>
                      </a:pPr>
                      <a:r>
                        <a:rPr/>
                        <a:t>min</a:t>
                      </a:r>
                    </a:p>
                  </a:txBody>
                </a:tc>
                <a:tc>
                  <a:txBody>
                    <a:bodyPr/>
                    <a:lstStyle/>
                    <a:p>
                      <a:pPr lvl="0" indent="0" marL="0" algn="r">
                        <a:buNone/>
                      </a:pPr>
                      <a:r>
                        <a:rPr/>
                        <a:t>32.1</a:t>
                      </a:r>
                    </a:p>
                  </a:txBody>
                </a:tc>
                <a:tc>
                  <a:txBody>
                    <a:bodyPr/>
                    <a:lstStyle/>
                    <a:p>
                      <a:pPr lvl="0" indent="0" marL="0" algn="r">
                        <a:buNone/>
                      </a:pPr>
                      <a:r>
                        <a:rPr/>
                        <a:t>13.1</a:t>
                      </a:r>
                    </a:p>
                  </a:txBody>
                </a:tc>
                <a:tc>
                  <a:txBody>
                    <a:bodyPr/>
                    <a:lstStyle/>
                    <a:p>
                      <a:pPr lvl="0" indent="0" marL="0" algn="r">
                        <a:buNone/>
                      </a:pPr>
                      <a:r>
                        <a:rPr/>
                        <a:t>172</a:t>
                      </a:r>
                    </a:p>
                  </a:txBody>
                </a:tc>
                <a:tc>
                  <a:txBody>
                    <a:bodyPr/>
                    <a:lstStyle/>
                    <a:p>
                      <a:pPr lvl="0" indent="0" marL="0" algn="r">
                        <a:buNone/>
                      </a:pPr>
                      <a:r>
                        <a:rPr/>
                        <a:t>2700</a:t>
                      </a:r>
                    </a:p>
                  </a:txBody>
                </a:tc>
              </a:tr>
              <a:tr h="0">
                <a:tc>
                  <a:txBody>
                    <a:bodyPr/>
                    <a:lstStyle/>
                    <a:p>
                      <a:pPr lvl="0" indent="0" marL="0" algn="l">
                        <a:buNone/>
                      </a:pPr>
                      <a:r>
                        <a:rPr/>
                        <a:t>25%</a:t>
                      </a:r>
                    </a:p>
                  </a:txBody>
                </a:tc>
                <a:tc>
                  <a:txBody>
                    <a:bodyPr/>
                    <a:lstStyle/>
                    <a:p>
                      <a:pPr lvl="0" indent="0" marL="0" algn="r">
                        <a:buNone/>
                      </a:pPr>
                      <a:r>
                        <a:rPr/>
                        <a:t>39.5</a:t>
                      </a:r>
                    </a:p>
                  </a:txBody>
                </a:tc>
                <a:tc>
                  <a:txBody>
                    <a:bodyPr/>
                    <a:lstStyle/>
                    <a:p>
                      <a:pPr lvl="0" indent="0" marL="0" algn="r">
                        <a:buNone/>
                      </a:pPr>
                      <a:r>
                        <a:rPr/>
                        <a:t>15.6</a:t>
                      </a:r>
                    </a:p>
                  </a:txBody>
                </a:tc>
                <a:tc>
                  <a:txBody>
                    <a:bodyPr/>
                    <a:lstStyle/>
                    <a:p>
                      <a:pPr lvl="0" indent="0" marL="0" algn="r">
                        <a:buNone/>
                      </a:pPr>
                      <a:r>
                        <a:rPr/>
                        <a:t>190</a:t>
                      </a:r>
                    </a:p>
                  </a:txBody>
                </a:tc>
                <a:tc>
                  <a:txBody>
                    <a:bodyPr/>
                    <a:lstStyle/>
                    <a:p>
                      <a:pPr lvl="0" indent="0" marL="0" algn="r">
                        <a:buNone/>
                      </a:pPr>
                      <a:r>
                        <a:rPr/>
                        <a:t>3550</a:t>
                      </a:r>
                    </a:p>
                  </a:txBody>
                </a:tc>
              </a:tr>
              <a:tr h="0">
                <a:tc>
                  <a:txBody>
                    <a:bodyPr/>
                    <a:lstStyle/>
                    <a:p>
                      <a:pPr lvl="0" indent="0" marL="0" algn="l">
                        <a:buNone/>
                      </a:pPr>
                      <a:r>
                        <a:rPr/>
                        <a:t>50%</a:t>
                      </a:r>
                    </a:p>
                  </a:txBody>
                </a:tc>
                <a:tc>
                  <a:txBody>
                    <a:bodyPr/>
                    <a:lstStyle/>
                    <a:p>
                      <a:pPr lvl="0" indent="0" marL="0" algn="r">
                        <a:buNone/>
                      </a:pPr>
                      <a:r>
                        <a:rPr/>
                        <a:t>44.5</a:t>
                      </a:r>
                    </a:p>
                  </a:txBody>
                </a:tc>
                <a:tc>
                  <a:txBody>
                    <a:bodyPr/>
                    <a:lstStyle/>
                    <a:p>
                      <a:pPr lvl="0" indent="0" marL="0" algn="r">
                        <a:buNone/>
                      </a:pPr>
                      <a:r>
                        <a:rPr/>
                        <a:t>17.3</a:t>
                      </a:r>
                    </a:p>
                  </a:txBody>
                </a:tc>
                <a:tc>
                  <a:txBody>
                    <a:bodyPr/>
                    <a:lstStyle/>
                    <a:p>
                      <a:pPr lvl="0" indent="0" marL="0" algn="r">
                        <a:buNone/>
                      </a:pPr>
                      <a:r>
                        <a:rPr/>
                        <a:t>197</a:t>
                      </a:r>
                    </a:p>
                  </a:txBody>
                </a:tc>
                <a:tc>
                  <a:txBody>
                    <a:bodyPr/>
                    <a:lstStyle/>
                    <a:p>
                      <a:pPr lvl="0" indent="0" marL="0" algn="r">
                        <a:buNone/>
                      </a:pPr>
                      <a:r>
                        <a:rPr/>
                        <a:t>4050</a:t>
                      </a:r>
                    </a:p>
                  </a:txBody>
                </a:tc>
              </a:tr>
              <a:tr h="0">
                <a:tc>
                  <a:txBody>
                    <a:bodyPr/>
                    <a:lstStyle/>
                    <a:p>
                      <a:pPr lvl="0" indent="0" marL="0" algn="l">
                        <a:buNone/>
                      </a:pPr>
                      <a:r>
                        <a:rPr/>
                        <a:t>75%</a:t>
                      </a:r>
                    </a:p>
                  </a:txBody>
                </a:tc>
                <a:tc>
                  <a:txBody>
                    <a:bodyPr/>
                    <a:lstStyle/>
                    <a:p>
                      <a:pPr lvl="0" indent="0" marL="0" algn="r">
                        <a:buNone/>
                      </a:pPr>
                      <a:r>
                        <a:rPr/>
                        <a:t>48.6</a:t>
                      </a:r>
                    </a:p>
                  </a:txBody>
                </a:tc>
                <a:tc>
                  <a:txBody>
                    <a:bodyPr/>
                    <a:lstStyle/>
                    <a:p>
                      <a:pPr lvl="0" indent="0" marL="0" algn="r">
                        <a:buNone/>
                      </a:pPr>
                      <a:r>
                        <a:rPr/>
                        <a:t>18.7</a:t>
                      </a:r>
                    </a:p>
                  </a:txBody>
                </a:tc>
                <a:tc>
                  <a:txBody>
                    <a:bodyPr/>
                    <a:lstStyle/>
                    <a:p>
                      <a:pPr lvl="0" indent="0" marL="0" algn="r">
                        <a:buNone/>
                      </a:pPr>
                      <a:r>
                        <a:rPr/>
                        <a:t>213</a:t>
                      </a:r>
                    </a:p>
                  </a:txBody>
                </a:tc>
                <a:tc>
                  <a:txBody>
                    <a:bodyPr/>
                    <a:lstStyle/>
                    <a:p>
                      <a:pPr lvl="0" indent="0" marL="0" algn="r">
                        <a:buNone/>
                      </a:pPr>
                      <a:r>
                        <a:rPr/>
                        <a:t>4775</a:t>
                      </a:r>
                    </a:p>
                  </a:txBody>
                </a:tc>
              </a:tr>
              <a:tr h="0">
                <a:tc>
                  <a:txBody>
                    <a:bodyPr/>
                    <a:lstStyle/>
                    <a:p>
                      <a:pPr lvl="0" indent="0" marL="0" algn="l">
                        <a:buNone/>
                      </a:pPr>
                      <a:r>
                        <a:rPr/>
                        <a:t>max</a:t>
                      </a:r>
                    </a:p>
                  </a:txBody>
                </a:tc>
                <a:tc>
                  <a:txBody>
                    <a:bodyPr/>
                    <a:lstStyle/>
                    <a:p>
                      <a:pPr lvl="0" indent="0" marL="0" algn="r">
                        <a:buNone/>
                      </a:pPr>
                      <a:r>
                        <a:rPr/>
                        <a:t>59.6</a:t>
                      </a:r>
                    </a:p>
                  </a:txBody>
                </a:tc>
                <a:tc>
                  <a:txBody>
                    <a:bodyPr/>
                    <a:lstStyle/>
                    <a:p>
                      <a:pPr lvl="0" indent="0" marL="0" algn="r">
                        <a:buNone/>
                      </a:pPr>
                      <a:r>
                        <a:rPr/>
                        <a:t>21.5</a:t>
                      </a:r>
                    </a:p>
                  </a:txBody>
                </a:tc>
                <a:tc>
                  <a:txBody>
                    <a:bodyPr/>
                    <a:lstStyle/>
                    <a:p>
                      <a:pPr lvl="0" indent="0" marL="0" algn="r">
                        <a:buNone/>
                      </a:pPr>
                      <a:r>
                        <a:rPr/>
                        <a:t>231</a:t>
                      </a:r>
                    </a:p>
                  </a:txBody>
                </a:tc>
                <a:tc>
                  <a:txBody>
                    <a:bodyPr/>
                    <a:lstStyle/>
                    <a:p>
                      <a:pPr lvl="0" indent="0" marL="0" algn="r">
                        <a:buNone/>
                      </a:pPr>
                      <a:r>
                        <a:rPr/>
                        <a:t>6300</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범주형 변수 분포</a:t>
            </a:r>
          </a:p>
        </p:txBody>
      </p:sp>
      <p:sp>
        <p:nvSpPr>
          <p:cNvPr id="4" name="Text Placeholder 3"/>
          <p:cNvSpPr>
            <a:spLocks noGrp="1"/>
          </p:cNvSpPr>
          <p:nvPr>
            <p:ph idx="2" sz="half" type="body"/>
          </p:nvPr>
        </p:nvSpPr>
        <p:spPr/>
        <p:txBody>
          <a:bodyPr/>
          <a:lstStyle/>
          <a:p>
            <a:pPr lvl="0" indent="0" marL="0">
              <a:spcBef>
                <a:spcPts val="3000"/>
              </a:spcBef>
              <a:buNone/>
            </a:pPr>
            <a:r>
              <a:rPr b="1"/>
              <a:t>species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lgn="l">
                        <a:buNone/>
                      </a:pPr>
                      <a:r>
                        <a:rPr/>
                        <a:t>species</a:t>
                      </a:r>
                    </a:p>
                  </a:txBody>
                  <a:tcPr/>
                </a:tc>
                <a:tc>
                  <a:txBody>
                    <a:bodyPr/>
                    <a:lstStyle/>
                    <a:p>
                      <a:pPr lvl="0" indent="0" marL="0" algn="r">
                        <a:buNone/>
                      </a:pPr>
                      <a:r>
                        <a:rPr/>
                        <a:t>count</a:t>
                      </a:r>
                    </a:p>
                  </a:txBody>
                  <a:tcPr/>
                </a:tc>
              </a:tr>
              <a:tr h="0">
                <a:tc>
                  <a:txBody>
                    <a:bodyPr/>
                    <a:lstStyle/>
                    <a:p>
                      <a:pPr lvl="0" indent="0" marL="0" algn="l">
                        <a:buNone/>
                      </a:pPr>
                      <a:r>
                        <a:rPr/>
                        <a:t>Adelie</a:t>
                      </a:r>
                    </a:p>
                  </a:txBody>
                </a:tc>
                <a:tc>
                  <a:txBody>
                    <a:bodyPr/>
                    <a:lstStyle/>
                    <a:p>
                      <a:pPr lvl="0" indent="0" marL="0" algn="r">
                        <a:buNone/>
                      </a:pPr>
                      <a:r>
                        <a:rPr/>
                        <a:t>146</a:t>
                      </a:r>
                    </a:p>
                  </a:txBody>
                </a:tc>
              </a:tr>
              <a:tr h="0">
                <a:tc>
                  <a:txBody>
                    <a:bodyPr/>
                    <a:lstStyle/>
                    <a:p>
                      <a:pPr lvl="0" indent="0" marL="0" algn="l">
                        <a:buNone/>
                      </a:pPr>
                      <a:r>
                        <a:rPr/>
                        <a:t>Gentoo</a:t>
                      </a:r>
                    </a:p>
                  </a:txBody>
                </a:tc>
                <a:tc>
                  <a:txBody>
                    <a:bodyPr/>
                    <a:lstStyle/>
                    <a:p>
                      <a:pPr lvl="0" indent="0" marL="0" algn="r">
                        <a:buNone/>
                      </a:pPr>
                      <a:r>
                        <a:rPr/>
                        <a:t>119</a:t>
                      </a:r>
                    </a:p>
                  </a:txBody>
                </a:tc>
              </a:tr>
              <a:tr h="0">
                <a:tc>
                  <a:txBody>
                    <a:bodyPr/>
                    <a:lstStyle/>
                    <a:p>
                      <a:pPr lvl="0" indent="0" marL="0" algn="l">
                        <a:buNone/>
                      </a:pPr>
                      <a:r>
                        <a:rPr/>
                        <a:t>Chinstrap</a:t>
                      </a:r>
                    </a:p>
                  </a:txBody>
                </a:tc>
                <a:tc>
                  <a:txBody>
                    <a:bodyPr/>
                    <a:lstStyle/>
                    <a:p>
                      <a:pPr lvl="0" indent="0" marL="0" algn="r">
                        <a:buNone/>
                      </a:pPr>
                      <a:r>
                        <a:rPr/>
                        <a:t>68</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island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lgn="l">
                        <a:buNone/>
                      </a:pPr>
                      <a:r>
                        <a:rPr/>
                        <a:t>island</a:t>
                      </a:r>
                    </a:p>
                  </a:txBody>
                  <a:tcPr/>
                </a:tc>
                <a:tc>
                  <a:txBody>
                    <a:bodyPr/>
                    <a:lstStyle/>
                    <a:p>
                      <a:pPr lvl="0" indent="0" marL="0" algn="r">
                        <a:buNone/>
                      </a:pPr>
                      <a:r>
                        <a:rPr/>
                        <a:t>count</a:t>
                      </a:r>
                    </a:p>
                  </a:txBody>
                  <a:tcPr/>
                </a:tc>
              </a:tr>
              <a:tr h="0">
                <a:tc>
                  <a:txBody>
                    <a:bodyPr/>
                    <a:lstStyle/>
                    <a:p>
                      <a:pPr lvl="0" indent="0" marL="0" algn="l">
                        <a:buNone/>
                      </a:pPr>
                      <a:r>
                        <a:rPr/>
                        <a:t>Biscoe</a:t>
                      </a:r>
                    </a:p>
                  </a:txBody>
                </a:tc>
                <a:tc>
                  <a:txBody>
                    <a:bodyPr/>
                    <a:lstStyle/>
                    <a:p>
                      <a:pPr lvl="0" indent="0" marL="0" algn="r">
                        <a:buNone/>
                      </a:pPr>
                      <a:r>
                        <a:rPr/>
                        <a:t>163</a:t>
                      </a:r>
                    </a:p>
                  </a:txBody>
                </a:tc>
              </a:tr>
              <a:tr h="0">
                <a:tc>
                  <a:txBody>
                    <a:bodyPr/>
                    <a:lstStyle/>
                    <a:p>
                      <a:pPr lvl="0" indent="0" marL="0" algn="l">
                        <a:buNone/>
                      </a:pPr>
                      <a:r>
                        <a:rPr/>
                        <a:t>Dream</a:t>
                      </a:r>
                    </a:p>
                  </a:txBody>
                </a:tc>
                <a:tc>
                  <a:txBody>
                    <a:bodyPr/>
                    <a:lstStyle/>
                    <a:p>
                      <a:pPr lvl="0" indent="0" marL="0" algn="r">
                        <a:buNone/>
                      </a:pPr>
                      <a:r>
                        <a:rPr/>
                        <a:t>123</a:t>
                      </a:r>
                    </a:p>
                  </a:txBody>
                </a:tc>
              </a:tr>
              <a:tr h="0">
                <a:tc>
                  <a:txBody>
                    <a:bodyPr/>
                    <a:lstStyle/>
                    <a:p>
                      <a:pPr lvl="0" indent="0" marL="0" algn="l">
                        <a:buNone/>
                      </a:pPr>
                      <a:r>
                        <a:rPr/>
                        <a:t>Torgersen</a:t>
                      </a:r>
                    </a:p>
                  </a:txBody>
                </a:tc>
                <a:tc>
                  <a:txBody>
                    <a:bodyPr/>
                    <a:lstStyle/>
                    <a:p>
                      <a:pPr lvl="0" indent="0" marL="0" algn="r">
                        <a:buNone/>
                      </a:pPr>
                      <a:r>
                        <a:rPr/>
                        <a:t>47</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sex</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lgn="l">
                        <a:buNone/>
                      </a:pPr>
                      <a:r>
                        <a:rPr/>
                        <a:t>sex</a:t>
                      </a:r>
                    </a:p>
                  </a:txBody>
                  <a:tcPr/>
                </a:tc>
                <a:tc>
                  <a:txBody>
                    <a:bodyPr/>
                    <a:lstStyle/>
                    <a:p>
                      <a:pPr lvl="0" indent="0" marL="0" algn="r">
                        <a:buNone/>
                      </a:pPr>
                      <a:r>
                        <a:rPr/>
                        <a:t>count</a:t>
                      </a:r>
                    </a:p>
                  </a:txBody>
                  <a:tcPr/>
                </a:tc>
              </a:tr>
              <a:tr h="0">
                <a:tc>
                  <a:txBody>
                    <a:bodyPr/>
                    <a:lstStyle/>
                    <a:p>
                      <a:pPr lvl="0" indent="0" marL="0" algn="l">
                        <a:buNone/>
                      </a:pPr>
                      <a:r>
                        <a:rPr/>
                        <a:t>Male</a:t>
                      </a:r>
                    </a:p>
                  </a:txBody>
                </a:tc>
                <a:tc>
                  <a:txBody>
                    <a:bodyPr/>
                    <a:lstStyle/>
                    <a:p>
                      <a:pPr lvl="0" indent="0" marL="0" algn="r">
                        <a:buNone/>
                      </a:pPr>
                      <a:r>
                        <a:rPr/>
                        <a:t>168</a:t>
                      </a:r>
                    </a:p>
                  </a:txBody>
                </a:tc>
              </a:tr>
              <a:tr h="0">
                <a:tc>
                  <a:txBody>
                    <a:bodyPr/>
                    <a:lstStyle/>
                    <a:p>
                      <a:pPr lvl="0" indent="0" marL="0" algn="l">
                        <a:buNone/>
                      </a:pPr>
                      <a:r>
                        <a:rPr/>
                        <a:t>Female</a:t>
                      </a:r>
                    </a:p>
                  </a:txBody>
                </a:tc>
                <a:tc>
                  <a:txBody>
                    <a:bodyPr/>
                    <a:lstStyle/>
                    <a:p>
                      <a:pPr lvl="0" indent="0" marL="0" algn="r">
                        <a:buNone/>
                      </a:pPr>
                      <a:r>
                        <a:rPr/>
                        <a:t>165</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요약 통계</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168400"/>
                <a:gridCol w="1168400"/>
                <a:gridCol w="1168400"/>
                <a:gridCol w="1168400"/>
                <a:gridCol w="1168400"/>
                <a:gridCol w="1168400"/>
                <a:gridCol w="1168400"/>
              </a:tblGrid>
              <a:tr h="0">
                <a:tc>
                  <a:txBody>
                    <a:bodyPr/>
                    <a:lstStyle/>
                    <a:p>
                      <a:pPr lvl="0" indent="0" marL="0" algn="l">
                        <a:buNone/>
                      </a:pPr>
                      <a:r>
                        <a:rPr/>
                        <a:t>species</a:t>
                      </a:r>
                    </a:p>
                  </a:txBody>
                  <a:tcPr/>
                </a:tc>
                <a:tc>
                  <a:txBody>
                    <a:bodyPr/>
                    <a:lstStyle/>
                    <a:p>
                      <a:pPr lvl="0" indent="0" marL="0" algn="r">
                        <a:buNone/>
                      </a:pPr>
                      <a:r>
                        <a:rPr/>
                        <a:t>(‘body_mass_g’, ‘mean’)</a:t>
                      </a:r>
                    </a:p>
                  </a:txBody>
                  <a:tcPr/>
                </a:tc>
                <a:tc>
                  <a:txBody>
                    <a:bodyPr/>
                    <a:lstStyle/>
                    <a:p>
                      <a:pPr lvl="0" indent="0" marL="0" algn="r">
                        <a:buNone/>
                      </a:pPr>
                      <a:r>
                        <a:rPr/>
                        <a:t>(‘body_mass_g’, ‘median’)</a:t>
                      </a:r>
                    </a:p>
                  </a:txBody>
                  <a:tcPr/>
                </a:tc>
                <a:tc>
                  <a:txBody>
                    <a:bodyPr/>
                    <a:lstStyle/>
                    <a:p>
                      <a:pPr lvl="0" indent="0" marL="0" algn="r">
                        <a:buNone/>
                      </a:pPr>
                      <a:r>
                        <a:rPr/>
                        <a:t>(‘body_mass_g’, ‘std’)</a:t>
                      </a:r>
                    </a:p>
                  </a:txBody>
                  <a:tcPr/>
                </a:tc>
                <a:tc>
                  <a:txBody>
                    <a:bodyPr/>
                    <a:lstStyle/>
                    <a:p>
                      <a:pPr lvl="0" indent="0" marL="0" algn="r">
                        <a:buNone/>
                      </a:pPr>
                      <a:r>
                        <a:rPr/>
                        <a:t>(‘bill_length_mm’, ‘mean’)</a:t>
                      </a:r>
                    </a:p>
                  </a:txBody>
                  <a:tcPr/>
                </a:tc>
                <a:tc>
                  <a:txBody>
                    <a:bodyPr/>
                    <a:lstStyle/>
                    <a:p>
                      <a:pPr lvl="0" indent="0" marL="0" algn="r">
                        <a:buNone/>
                      </a:pPr>
                      <a:r>
                        <a:rPr/>
                        <a:t>(‘bill_length_mm’, ‘median’)</a:t>
                      </a:r>
                    </a:p>
                  </a:txBody>
                  <a:tcPr/>
                </a:tc>
                <a:tc>
                  <a:txBody>
                    <a:bodyPr/>
                    <a:lstStyle/>
                    <a:p>
                      <a:pPr lvl="0" indent="0" marL="0" algn="r">
                        <a:buNone/>
                      </a:pPr>
                      <a:r>
                        <a:rPr/>
                        <a:t>(‘flipper_length_mm’, ‘mean’)</a:t>
                      </a:r>
                    </a:p>
                  </a:txBody>
                  <a:tcPr/>
                </a:tc>
              </a:tr>
              <a:tr h="0">
                <a:tc>
                  <a:txBody>
                    <a:bodyPr/>
                    <a:lstStyle/>
                    <a:p>
                      <a:pPr lvl="0" indent="0" marL="0" algn="l">
                        <a:buNone/>
                      </a:pPr>
                      <a:r>
                        <a:rPr/>
                        <a:t>Adelie</a:t>
                      </a:r>
                    </a:p>
                  </a:txBody>
                </a:tc>
                <a:tc>
                  <a:txBody>
                    <a:bodyPr/>
                    <a:lstStyle/>
                    <a:p>
                      <a:pPr lvl="0" indent="0" marL="0" algn="r">
                        <a:buNone/>
                      </a:pPr>
                      <a:r>
                        <a:rPr/>
                        <a:t>3706.16</a:t>
                      </a:r>
                    </a:p>
                  </a:txBody>
                </a:tc>
                <a:tc>
                  <a:txBody>
                    <a:bodyPr/>
                    <a:lstStyle/>
                    <a:p>
                      <a:pPr lvl="0" indent="0" marL="0" algn="r">
                        <a:buNone/>
                      </a:pPr>
                      <a:r>
                        <a:rPr/>
                        <a:t>3700</a:t>
                      </a:r>
                    </a:p>
                  </a:txBody>
                </a:tc>
                <a:tc>
                  <a:txBody>
                    <a:bodyPr/>
                    <a:lstStyle/>
                    <a:p>
                      <a:pPr lvl="0" indent="0" marL="0" algn="r">
                        <a:buNone/>
                      </a:pPr>
                      <a:r>
                        <a:rPr/>
                        <a:t>458.62</a:t>
                      </a:r>
                    </a:p>
                  </a:txBody>
                </a:tc>
                <a:tc>
                  <a:txBody>
                    <a:bodyPr/>
                    <a:lstStyle/>
                    <a:p>
                      <a:pPr lvl="0" indent="0" marL="0" algn="r">
                        <a:buNone/>
                      </a:pPr>
                      <a:r>
                        <a:rPr/>
                        <a:t>38.824</a:t>
                      </a:r>
                    </a:p>
                  </a:txBody>
                </a:tc>
                <a:tc>
                  <a:txBody>
                    <a:bodyPr/>
                    <a:lstStyle/>
                    <a:p>
                      <a:pPr lvl="0" indent="0" marL="0" algn="r">
                        <a:buNone/>
                      </a:pPr>
                      <a:r>
                        <a:rPr/>
                        <a:t>38.85</a:t>
                      </a:r>
                    </a:p>
                  </a:txBody>
                </a:tc>
                <a:tc>
                  <a:txBody>
                    <a:bodyPr/>
                    <a:lstStyle/>
                    <a:p>
                      <a:pPr lvl="0" indent="0" marL="0" algn="r">
                        <a:buNone/>
                      </a:pPr>
                      <a:r>
                        <a:rPr/>
                        <a:t>190.103</a:t>
                      </a:r>
                    </a:p>
                  </a:txBody>
                </a:tc>
              </a:tr>
              <a:tr h="0">
                <a:tc>
                  <a:txBody>
                    <a:bodyPr/>
                    <a:lstStyle/>
                    <a:p>
                      <a:pPr lvl="0" indent="0" marL="0" algn="l">
                        <a:buNone/>
                      </a:pPr>
                      <a:r>
                        <a:rPr/>
                        <a:t>Chinstrap</a:t>
                      </a:r>
                    </a:p>
                  </a:txBody>
                </a:tc>
                <a:tc>
                  <a:txBody>
                    <a:bodyPr/>
                    <a:lstStyle/>
                    <a:p>
                      <a:pPr lvl="0" indent="0" marL="0" algn="r">
                        <a:buNone/>
                      </a:pPr>
                      <a:r>
                        <a:rPr/>
                        <a:t>3733.09</a:t>
                      </a:r>
                    </a:p>
                  </a:txBody>
                </a:tc>
                <a:tc>
                  <a:txBody>
                    <a:bodyPr/>
                    <a:lstStyle/>
                    <a:p>
                      <a:pPr lvl="0" indent="0" marL="0" algn="r">
                        <a:buNone/>
                      </a:pPr>
                      <a:r>
                        <a:rPr/>
                        <a:t>3700</a:t>
                      </a:r>
                    </a:p>
                  </a:txBody>
                </a:tc>
                <a:tc>
                  <a:txBody>
                    <a:bodyPr/>
                    <a:lstStyle/>
                    <a:p>
                      <a:pPr lvl="0" indent="0" marL="0" algn="r">
                        <a:buNone/>
                      </a:pPr>
                      <a:r>
                        <a:rPr/>
                        <a:t>384.335</a:t>
                      </a:r>
                    </a:p>
                  </a:txBody>
                </a:tc>
                <a:tc>
                  <a:txBody>
                    <a:bodyPr/>
                    <a:lstStyle/>
                    <a:p>
                      <a:pPr lvl="0" indent="0" marL="0" algn="r">
                        <a:buNone/>
                      </a:pPr>
                      <a:r>
                        <a:rPr/>
                        <a:t>48.8338</a:t>
                      </a:r>
                    </a:p>
                  </a:txBody>
                </a:tc>
                <a:tc>
                  <a:txBody>
                    <a:bodyPr/>
                    <a:lstStyle/>
                    <a:p>
                      <a:pPr lvl="0" indent="0" marL="0" algn="r">
                        <a:buNone/>
                      </a:pPr>
                      <a:r>
                        <a:rPr/>
                        <a:t>49.55</a:t>
                      </a:r>
                    </a:p>
                  </a:txBody>
                </a:tc>
                <a:tc>
                  <a:txBody>
                    <a:bodyPr/>
                    <a:lstStyle/>
                    <a:p>
                      <a:pPr lvl="0" indent="0" marL="0" algn="r">
                        <a:buNone/>
                      </a:pPr>
                      <a:r>
                        <a:rPr/>
                        <a:t>195.824</a:t>
                      </a:r>
                    </a:p>
                  </a:txBody>
                </a:tc>
              </a:tr>
              <a:tr h="0">
                <a:tc>
                  <a:txBody>
                    <a:bodyPr/>
                    <a:lstStyle/>
                    <a:p>
                      <a:pPr lvl="0" indent="0" marL="0" algn="l">
                        <a:buNone/>
                      </a:pPr>
                      <a:r>
                        <a:rPr/>
                        <a:t>Gentoo</a:t>
                      </a:r>
                    </a:p>
                  </a:txBody>
                </a:tc>
                <a:tc>
                  <a:txBody>
                    <a:bodyPr/>
                    <a:lstStyle/>
                    <a:p>
                      <a:pPr lvl="0" indent="0" marL="0" algn="r">
                        <a:buNone/>
                      </a:pPr>
                      <a:r>
                        <a:rPr/>
                        <a:t>5092.44</a:t>
                      </a:r>
                    </a:p>
                  </a:txBody>
                </a:tc>
                <a:tc>
                  <a:txBody>
                    <a:bodyPr/>
                    <a:lstStyle/>
                    <a:p>
                      <a:pPr lvl="0" indent="0" marL="0" algn="r">
                        <a:buNone/>
                      </a:pPr>
                      <a:r>
                        <a:rPr/>
                        <a:t>5050</a:t>
                      </a:r>
                    </a:p>
                  </a:txBody>
                </a:tc>
                <a:tc>
                  <a:txBody>
                    <a:bodyPr/>
                    <a:lstStyle/>
                    <a:p>
                      <a:pPr lvl="0" indent="0" marL="0" algn="r">
                        <a:buNone/>
                      </a:pPr>
                      <a:r>
                        <a:rPr/>
                        <a:t>501.476</a:t>
                      </a:r>
                    </a:p>
                  </a:txBody>
                </a:tc>
                <a:tc>
                  <a:txBody>
                    <a:bodyPr/>
                    <a:lstStyle/>
                    <a:p>
                      <a:pPr lvl="0" indent="0" marL="0" algn="r">
                        <a:buNone/>
                      </a:pPr>
                      <a:r>
                        <a:rPr/>
                        <a:t>47.5681</a:t>
                      </a:r>
                    </a:p>
                  </a:txBody>
                </a:tc>
                <a:tc>
                  <a:txBody>
                    <a:bodyPr/>
                    <a:lstStyle/>
                    <a:p>
                      <a:pPr lvl="0" indent="0" marL="0" algn="r">
                        <a:buNone/>
                      </a:pPr>
                      <a:r>
                        <a:rPr/>
                        <a:t>47.4</a:t>
                      </a:r>
                    </a:p>
                  </a:txBody>
                </a:tc>
                <a:tc>
                  <a:txBody>
                    <a:bodyPr/>
                    <a:lstStyle/>
                    <a:p>
                      <a:pPr lvl="0" indent="0" marL="0" algn="r">
                        <a:buNone/>
                      </a:pPr>
                      <a:r>
                        <a:rPr/>
                        <a:t>217.235</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교차표 및 피봇</a:t>
            </a:r>
          </a:p>
        </p:txBody>
      </p:sp>
      <p:sp>
        <p:nvSpPr>
          <p:cNvPr id="4" name="Text Placeholder 3"/>
          <p:cNvSpPr>
            <a:spLocks noGrp="1"/>
          </p:cNvSpPr>
          <p:nvPr>
            <p:ph idx="2" sz="half" type="body"/>
          </p:nvPr>
        </p:nvSpPr>
        <p:spPr/>
        <p:txBody>
          <a:bodyPr/>
          <a:lstStyle/>
          <a:p>
            <a:pPr lvl="0" indent="0" marL="0">
              <a:spcBef>
                <a:spcPts val="3000"/>
              </a:spcBef>
              <a:buNone/>
            </a:pPr>
            <a:r>
              <a:rPr b="1"/>
              <a:t>교차표: species vs sex</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species</a:t>
                      </a:r>
                    </a:p>
                  </a:txBody>
                  <a:tcPr/>
                </a:tc>
                <a:tc>
                  <a:txBody>
                    <a:bodyPr/>
                    <a:lstStyle/>
                    <a:p>
                      <a:pPr lvl="0" indent="0" marL="0" algn="r">
                        <a:buNone/>
                      </a:pPr>
                      <a:r>
                        <a:rPr/>
                        <a:t>Female</a:t>
                      </a:r>
                    </a:p>
                  </a:txBody>
                  <a:tcPr/>
                </a:tc>
                <a:tc>
                  <a:txBody>
                    <a:bodyPr/>
                    <a:lstStyle/>
                    <a:p>
                      <a:pPr lvl="0" indent="0" marL="0" algn="r">
                        <a:buNone/>
                      </a:pPr>
                      <a:r>
                        <a:rPr/>
                        <a:t>Male</a:t>
                      </a:r>
                    </a:p>
                  </a:txBody>
                  <a:tcPr/>
                </a:tc>
              </a:tr>
              <a:tr h="0">
                <a:tc>
                  <a:txBody>
                    <a:bodyPr/>
                    <a:lstStyle/>
                    <a:p>
                      <a:pPr lvl="0" indent="0" marL="0" algn="l">
                        <a:buNone/>
                      </a:pPr>
                      <a:r>
                        <a:rPr/>
                        <a:t>Adelie</a:t>
                      </a:r>
                    </a:p>
                  </a:txBody>
                </a:tc>
                <a:tc>
                  <a:txBody>
                    <a:bodyPr/>
                    <a:lstStyle/>
                    <a:p>
                      <a:pPr lvl="0" indent="0" marL="0" algn="r">
                        <a:buNone/>
                      </a:pPr>
                      <a:r>
                        <a:rPr/>
                        <a:t>73</a:t>
                      </a:r>
                    </a:p>
                  </a:txBody>
                </a:tc>
                <a:tc>
                  <a:txBody>
                    <a:bodyPr/>
                    <a:lstStyle/>
                    <a:p>
                      <a:pPr lvl="0" indent="0" marL="0" algn="r">
                        <a:buNone/>
                      </a:pPr>
                      <a:r>
                        <a:rPr/>
                        <a:t>73</a:t>
                      </a:r>
                    </a:p>
                  </a:txBody>
                </a:tc>
              </a:tr>
              <a:tr h="0">
                <a:tc>
                  <a:txBody>
                    <a:bodyPr/>
                    <a:lstStyle/>
                    <a:p>
                      <a:pPr lvl="0" indent="0" marL="0" algn="l">
                        <a:buNone/>
                      </a:pPr>
                      <a:r>
                        <a:rPr/>
                        <a:t>Chinstrap</a:t>
                      </a:r>
                    </a:p>
                  </a:txBody>
                </a:tc>
                <a:tc>
                  <a:txBody>
                    <a:bodyPr/>
                    <a:lstStyle/>
                    <a:p>
                      <a:pPr lvl="0" indent="0" marL="0" algn="r">
                        <a:buNone/>
                      </a:pPr>
                      <a:r>
                        <a:rPr/>
                        <a:t>34</a:t>
                      </a:r>
                    </a:p>
                  </a:txBody>
                </a:tc>
                <a:tc>
                  <a:txBody>
                    <a:bodyPr/>
                    <a:lstStyle/>
                    <a:p>
                      <a:pPr lvl="0" indent="0" marL="0" algn="r">
                        <a:buNone/>
                      </a:pPr>
                      <a:r>
                        <a:rPr/>
                        <a:t>34</a:t>
                      </a:r>
                    </a:p>
                  </a:txBody>
                </a:tc>
              </a:tr>
              <a:tr h="0">
                <a:tc>
                  <a:txBody>
                    <a:bodyPr/>
                    <a:lstStyle/>
                    <a:p>
                      <a:pPr lvl="0" indent="0" marL="0" algn="l">
                        <a:buNone/>
                      </a:pPr>
                      <a:r>
                        <a:rPr/>
                        <a:t>Gentoo</a:t>
                      </a:r>
                    </a:p>
                  </a:txBody>
                </a:tc>
                <a:tc>
                  <a:txBody>
                    <a:bodyPr/>
                    <a:lstStyle/>
                    <a:p>
                      <a:pPr lvl="0" indent="0" marL="0" algn="r">
                        <a:buNone/>
                      </a:pPr>
                      <a:r>
                        <a:rPr/>
                        <a:t>58</a:t>
                      </a:r>
                    </a:p>
                  </a:txBody>
                </a:tc>
                <a:tc>
                  <a:txBody>
                    <a:bodyPr/>
                    <a:lstStyle/>
                    <a:p>
                      <a:pPr lvl="0" indent="0" marL="0" algn="r">
                        <a:buNone/>
                      </a:pPr>
                      <a:r>
                        <a:rPr/>
                        <a:t>61</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피봇: species × island 평균</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23900"/>
                <a:gridCol w="723900"/>
                <a:gridCol w="723900"/>
                <a:gridCol w="723900"/>
                <a:gridCol w="723900"/>
                <a:gridCol w="723900"/>
                <a:gridCol w="723900"/>
              </a:tblGrid>
              <a:tr h="0">
                <a:tc>
                  <a:txBody>
                    <a:bodyPr/>
                    <a:lstStyle/>
                    <a:p>
                      <a:pPr lvl="0" indent="0" marL="0" algn="l">
                        <a:buNone/>
                      </a:pPr>
                      <a:r>
                        <a:rPr/>
                        <a:t>species</a:t>
                      </a:r>
                    </a:p>
                  </a:txBody>
                  <a:tcPr/>
                </a:tc>
                <a:tc>
                  <a:txBody>
                    <a:bodyPr/>
                    <a:lstStyle/>
                    <a:p>
                      <a:pPr lvl="0" indent="0" marL="0" algn="r">
                        <a:buNone/>
                      </a:pPr>
                      <a:r>
                        <a:rPr/>
                        <a:t>(‘bill_length_mm’, ‘Biscoe’)</a:t>
                      </a:r>
                    </a:p>
                  </a:txBody>
                  <a:tcPr/>
                </a:tc>
                <a:tc>
                  <a:txBody>
                    <a:bodyPr/>
                    <a:lstStyle/>
                    <a:p>
                      <a:pPr lvl="0" indent="0" marL="0" algn="r">
                        <a:buNone/>
                      </a:pPr>
                      <a:r>
                        <a:rPr/>
                        <a:t>(‘bill_length_mm’, ‘Dream’)</a:t>
                      </a:r>
                    </a:p>
                  </a:txBody>
                  <a:tcPr/>
                </a:tc>
                <a:tc>
                  <a:txBody>
                    <a:bodyPr/>
                    <a:lstStyle/>
                    <a:p>
                      <a:pPr lvl="0" indent="0" marL="0" algn="r">
                        <a:buNone/>
                      </a:pPr>
                      <a:r>
                        <a:rPr/>
                        <a:t>(‘bill_length_mm’, ‘Torgersen’)</a:t>
                      </a:r>
                    </a:p>
                  </a:txBody>
                  <a:tcPr/>
                </a:tc>
                <a:tc>
                  <a:txBody>
                    <a:bodyPr/>
                    <a:lstStyle/>
                    <a:p>
                      <a:pPr lvl="0" indent="0" marL="0" algn="r">
                        <a:buNone/>
                      </a:pPr>
                      <a:r>
                        <a:rPr/>
                        <a:t>(‘body_mass_g’, ‘Biscoe’)</a:t>
                      </a:r>
                    </a:p>
                  </a:txBody>
                  <a:tcPr/>
                </a:tc>
                <a:tc>
                  <a:txBody>
                    <a:bodyPr/>
                    <a:lstStyle/>
                    <a:p>
                      <a:pPr lvl="0" indent="0" marL="0" algn="r">
                        <a:buNone/>
                      </a:pPr>
                      <a:r>
                        <a:rPr/>
                        <a:t>(‘body_mass_g’, ‘Dream’)</a:t>
                      </a:r>
                    </a:p>
                  </a:txBody>
                  <a:tcPr/>
                </a:tc>
                <a:tc>
                  <a:txBody>
                    <a:bodyPr/>
                    <a:lstStyle/>
                    <a:p>
                      <a:pPr lvl="0" indent="0" marL="0" algn="r">
                        <a:buNone/>
                      </a:pPr>
                      <a:r>
                        <a:rPr/>
                        <a:t>(‘body_mass_g’, ‘Torgersen’)</a:t>
                      </a:r>
                    </a:p>
                  </a:txBody>
                  <a:tcPr/>
                </a:tc>
              </a:tr>
              <a:tr h="0">
                <a:tc>
                  <a:txBody>
                    <a:bodyPr/>
                    <a:lstStyle/>
                    <a:p>
                      <a:pPr lvl="0" indent="0" marL="0" algn="l">
                        <a:buNone/>
                      </a:pPr>
                      <a:r>
                        <a:rPr/>
                        <a:t>Adelie</a:t>
                      </a:r>
                    </a:p>
                  </a:txBody>
                </a:tc>
                <a:tc>
                  <a:txBody>
                    <a:bodyPr/>
                    <a:lstStyle/>
                    <a:p>
                      <a:pPr lvl="0" indent="0" marL="0" algn="r">
                        <a:buNone/>
                      </a:pPr>
                      <a:r>
                        <a:rPr/>
                        <a:t>38.975</a:t>
                      </a:r>
                    </a:p>
                  </a:txBody>
                </a:tc>
                <a:tc>
                  <a:txBody>
                    <a:bodyPr/>
                    <a:lstStyle/>
                    <a:p>
                      <a:pPr lvl="0" indent="0" marL="0" algn="r">
                        <a:buNone/>
                      </a:pPr>
                      <a:r>
                        <a:rPr/>
                        <a:t>38.52</a:t>
                      </a:r>
                    </a:p>
                  </a:txBody>
                </a:tc>
                <a:tc>
                  <a:txBody>
                    <a:bodyPr/>
                    <a:lstStyle/>
                    <a:p>
                      <a:pPr lvl="0" indent="0" marL="0" algn="r">
                        <a:buNone/>
                      </a:pPr>
                      <a:r>
                        <a:rPr/>
                        <a:t>39.0383</a:t>
                      </a:r>
                    </a:p>
                  </a:txBody>
                </a:tc>
                <a:tc>
                  <a:txBody>
                    <a:bodyPr/>
                    <a:lstStyle/>
                    <a:p>
                      <a:pPr lvl="0" indent="0" marL="0" algn="r">
                        <a:buNone/>
                      </a:pPr>
                      <a:r>
                        <a:rPr/>
                        <a:t>3709.66</a:t>
                      </a:r>
                    </a:p>
                  </a:txBody>
                </a:tc>
                <a:tc>
                  <a:txBody>
                    <a:bodyPr/>
                    <a:lstStyle/>
                    <a:p>
                      <a:pPr lvl="0" indent="0" marL="0" algn="r">
                        <a:buNone/>
                      </a:pPr>
                      <a:r>
                        <a:rPr/>
                        <a:t>3701.36</a:t>
                      </a:r>
                    </a:p>
                  </a:txBody>
                </a:tc>
                <a:tc>
                  <a:txBody>
                    <a:bodyPr/>
                    <a:lstStyle/>
                    <a:p>
                      <a:pPr lvl="0" indent="0" marL="0" algn="r">
                        <a:buNone/>
                      </a:pPr>
                      <a:r>
                        <a:rPr/>
                        <a:t>3708.51</a:t>
                      </a:r>
                    </a:p>
                  </a:txBody>
                </a:tc>
              </a:tr>
              <a:tr h="0">
                <a:tc>
                  <a:txBody>
                    <a:bodyPr/>
                    <a:lstStyle/>
                    <a:p>
                      <a:pPr lvl="0" indent="0" marL="0" algn="l">
                        <a:buNone/>
                      </a:pPr>
                      <a:r>
                        <a:rPr/>
                        <a:t>Chinstrap</a:t>
                      </a:r>
                    </a:p>
                  </a:txBody>
                </a:tc>
                <a:tc>
                  <a:txBody>
                    <a:bodyPr/>
                    <a:lstStyle/>
                    <a:p>
                      <a:pPr lvl="0" indent="0" marL="0" algn="r">
                        <a:buNone/>
                      </a:pPr>
                      <a:r>
                        <a:rPr/>
                        <a:t>nan</a:t>
                      </a:r>
                    </a:p>
                  </a:txBody>
                </a:tc>
                <a:tc>
                  <a:txBody>
                    <a:bodyPr/>
                    <a:lstStyle/>
                    <a:p>
                      <a:pPr lvl="0" indent="0" marL="0" algn="r">
                        <a:buNone/>
                      </a:pPr>
                      <a:r>
                        <a:rPr/>
                        <a:t>48.8338</a:t>
                      </a:r>
                    </a:p>
                  </a:txBody>
                </a:tc>
                <a:tc>
                  <a:txBody>
                    <a:bodyPr/>
                    <a:lstStyle/>
                    <a:p>
                      <a:pPr lvl="0" indent="0" marL="0" algn="r">
                        <a:buNone/>
                      </a:pPr>
                      <a:r>
                        <a:rPr/>
                        <a:t>nan</a:t>
                      </a:r>
                    </a:p>
                  </a:txBody>
                </a:tc>
                <a:tc>
                  <a:txBody>
                    <a:bodyPr/>
                    <a:lstStyle/>
                    <a:p>
                      <a:pPr lvl="0" indent="0" marL="0" algn="r">
                        <a:buNone/>
                      </a:pPr>
                      <a:r>
                        <a:rPr/>
                        <a:t>nan</a:t>
                      </a:r>
                    </a:p>
                  </a:txBody>
                </a:tc>
                <a:tc>
                  <a:txBody>
                    <a:bodyPr/>
                    <a:lstStyle/>
                    <a:p>
                      <a:pPr lvl="0" indent="0" marL="0" algn="r">
                        <a:buNone/>
                      </a:pPr>
                      <a:r>
                        <a:rPr/>
                        <a:t>3733.09</a:t>
                      </a:r>
                    </a:p>
                  </a:txBody>
                </a:tc>
                <a:tc>
                  <a:txBody>
                    <a:bodyPr/>
                    <a:lstStyle/>
                    <a:p>
                      <a:pPr lvl="0" indent="0" marL="0" algn="r">
                        <a:buNone/>
                      </a:pPr>
                      <a:r>
                        <a:rPr/>
                        <a:t>nan</a:t>
                      </a:r>
                    </a:p>
                  </a:txBody>
                </a:tc>
              </a:tr>
              <a:tr h="0">
                <a:tc>
                  <a:txBody>
                    <a:bodyPr/>
                    <a:lstStyle/>
                    <a:p>
                      <a:pPr lvl="0" indent="0" marL="0" algn="l">
                        <a:buNone/>
                      </a:pPr>
                      <a:r>
                        <a:rPr/>
                        <a:t>Gentoo</a:t>
                      </a:r>
                    </a:p>
                  </a:txBody>
                </a:tc>
                <a:tc>
                  <a:txBody>
                    <a:bodyPr/>
                    <a:lstStyle/>
                    <a:p>
                      <a:pPr lvl="0" indent="0" marL="0" algn="r">
                        <a:buNone/>
                      </a:pPr>
                      <a:r>
                        <a:rPr/>
                        <a:t>47.5681</a:t>
                      </a:r>
                    </a:p>
                  </a:txBody>
                </a:tc>
                <a:tc>
                  <a:txBody>
                    <a:bodyPr/>
                    <a:lstStyle/>
                    <a:p>
                      <a:pPr lvl="0" indent="0" marL="0" algn="r">
                        <a:buNone/>
                      </a:pPr>
                      <a:r>
                        <a:rPr/>
                        <a:t>nan</a:t>
                      </a:r>
                    </a:p>
                  </a:txBody>
                </a:tc>
                <a:tc>
                  <a:txBody>
                    <a:bodyPr/>
                    <a:lstStyle/>
                    <a:p>
                      <a:pPr lvl="0" indent="0" marL="0" algn="r">
                        <a:buNone/>
                      </a:pPr>
                      <a:r>
                        <a:rPr/>
                        <a:t>nan</a:t>
                      </a:r>
                    </a:p>
                  </a:txBody>
                </a:tc>
                <a:tc>
                  <a:txBody>
                    <a:bodyPr/>
                    <a:lstStyle/>
                    <a:p>
                      <a:pPr lvl="0" indent="0" marL="0" algn="r">
                        <a:buNone/>
                      </a:pPr>
                      <a:r>
                        <a:rPr/>
                        <a:t>5092.44</a:t>
                      </a:r>
                    </a:p>
                  </a:txBody>
                </a:tc>
                <a:tc>
                  <a:txBody>
                    <a:bodyPr/>
                    <a:lstStyle/>
                    <a:p>
                      <a:pPr lvl="0" indent="0" marL="0" algn="r">
                        <a:buNone/>
                      </a:pPr>
                      <a:r>
                        <a:rPr/>
                        <a:t>nan</a:t>
                      </a:r>
                    </a:p>
                  </a:txBody>
                </a:tc>
                <a:tc>
                  <a:txBody>
                    <a:bodyPr/>
                    <a:lstStyle/>
                    <a:p>
                      <a:pPr lvl="0" indent="0" marL="0" algn="r">
                        <a:buNone/>
                      </a:pPr>
                      <a:r>
                        <a:rPr/>
                        <a:t>nan</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평균 체중 (g)</a:t>
            </a:r>
          </a:p>
        </p:txBody>
      </p:sp>
      <p:pic>
        <p:nvPicPr>
          <p:cNvPr descr="../plots/07_bar_mean_bodymass_by_species.png" id="0" name="Picture 1"/>
          <p:cNvPicPr>
            <a:picLocks noGrp="1" noChangeAspect="1"/>
          </p:cNvPicPr>
          <p:nvPr/>
        </p:nvPicPr>
        <p:blipFill>
          <a:blip r:embed="rId2"/>
          <a:stretch>
            <a:fillRect/>
          </a:stretch>
        </p:blipFill>
        <p:spPr bwMode="auto">
          <a:xfrm>
            <a:off x="2552700" y="1193800"/>
            <a:ext cx="4025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평균 체중 (g)</a:t>
            </a:r>
          </a:p>
        </p:txBody>
      </p:sp>
      <p:sp>
        <p:nvSpPr>
          <p:cNvPr id="3" name="Content Placeholder 2"/>
          <p:cNvSpPr>
            <a:spLocks noGrp="1"/>
          </p:cNvSpPr>
          <p:nvPr>
            <p:ph idx="1"/>
          </p:nvPr>
        </p:nvSpPr>
        <p:spPr/>
        <p:txBody>
          <a:bodyPr/>
          <a:lstStyle/>
          <a:p>
            <a:pPr lvl="0" indent="0" marL="0">
              <a:buNone/>
            </a:pPr>
            <a:r>
              <a:rPr/>
              <a:t>종별 평균 체중 막대는 Gentoo가 현저히 높은 평균 체중을 가지며, Adelie가 가장 낮음을 보여줍니다. 평균 차이는 생태적 지위나 먹이자원 이용 차이를 반영할 수 있으며, 체중의 분산과 표본수를 고려한 신뢰구간 표기는 후속 분석에서 중요합니다. 평균에 대한 단순 비교 외에도, 종 내 분포의 비대칭성이나 이상치를 함께 조사하면 종별 생태적 특성을 더 잘 이해할 수 있습니다. 또한 체중 예측 모델에 지느러미 길이 등 다른 변수를 포함해 설명력을 평가해볼 것을 권장합니다.</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부리 길이 vs 지느러미 길이 (종/성별)</a:t>
            </a:r>
          </a:p>
        </p:txBody>
      </p:sp>
      <p:pic>
        <p:nvPicPr>
          <p:cNvPr descr="../plots/08_scatter_bill_vs_flipper.png" id="0" name="Picture 1"/>
          <p:cNvPicPr>
            <a:picLocks noGrp="1" noChangeAspect="1"/>
          </p:cNvPicPr>
          <p:nvPr/>
        </p:nvPicPr>
        <p:blipFill>
          <a:blip r:embed="rId2"/>
          <a:stretch>
            <a:fillRect/>
          </a:stretch>
        </p:blipFill>
        <p:spPr bwMode="auto">
          <a:xfrm>
            <a:off x="2590800" y="1193800"/>
            <a:ext cx="3962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부리 길이 vs 지느러미 길이 (종/성별)</a:t>
            </a:r>
          </a:p>
        </p:txBody>
      </p:sp>
      <p:sp>
        <p:nvSpPr>
          <p:cNvPr id="3" name="Content Placeholder 2"/>
          <p:cNvSpPr>
            <a:spLocks noGrp="1"/>
          </p:cNvSpPr>
          <p:nvPr>
            <p:ph idx="1"/>
          </p:nvPr>
        </p:nvSpPr>
        <p:spPr/>
        <p:txBody>
          <a:bodyPr/>
          <a:lstStyle/>
          <a:p>
            <a:pPr lvl="0" indent="0" marL="0">
              <a:buNone/>
            </a:pPr>
            <a:r>
              <a:rPr/>
              <a:t>부리 길이와 지느러미 길이 산점도는 두 형태학적 변수 간의 관계를 시각화하며, 색상(hue)으로 종을 구분해 종간 관계 차이를 관찰할 수 있습니다. 상관이 있는 경우 한 변수를 통해 다른 변수를 부분적으로 예측할 수 있으며, 종별 분포의 기울기 차이는 형태적 비율의 차이를 시사합니다. 성별(style) 차이를 함께 표시하면 성별에 따른 형태 차이(성적 이형성)도 탐지할 수 있어 생태적·행동학적 해석에 유용합니다.</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지느러미 길이와 체중 회귀</a:t>
            </a:r>
          </a:p>
        </p:txBody>
      </p:sp>
      <p:pic>
        <p:nvPicPr>
          <p:cNvPr descr="../plots/09_reg_flipper_vs_bodymass.png" id="0" name="Picture 1"/>
          <p:cNvPicPr>
            <a:picLocks noGrp="1" noChangeAspect="1"/>
          </p:cNvPicPr>
          <p:nvPr/>
        </p:nvPicPr>
        <p:blipFill>
          <a:blip r:embed="rId2"/>
          <a:stretch>
            <a:fillRect/>
          </a:stretch>
        </p:blipFill>
        <p:spPr bwMode="auto">
          <a:xfrm>
            <a:off x="2552700" y="1193800"/>
            <a:ext cx="4038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지느러미 길이와 체중 회귀</a:t>
            </a:r>
          </a:p>
        </p:txBody>
      </p:sp>
      <p:sp>
        <p:nvSpPr>
          <p:cNvPr id="3" name="Content Placeholder 2"/>
          <p:cNvSpPr>
            <a:spLocks noGrp="1"/>
          </p:cNvSpPr>
          <p:nvPr>
            <p:ph idx="1"/>
          </p:nvPr>
        </p:nvSpPr>
        <p:spPr/>
        <p:txBody>
          <a:bodyPr/>
          <a:lstStyle/>
          <a:p>
            <a:pPr lvl="0" indent="0" marL="0">
              <a:buNone/>
            </a:pPr>
            <a:r>
              <a:rPr/>
              <a:t>회귀 플롯은 지느러미 길이와 체중 사이의 양의 선형관계를 시사합니다. 기울기와 산포를 통해 지느러미 길이의 변화가 체중 변화에 어느 정도 영향을 주는지 가늠할 수 있으며, 잔차의 패턴을 확인해 비선형성이나 이분산 여부를 검토해야 합니다. 더 정밀한 분석을 위해 종별 또는 성별로 분리해 회귀계수를 비교하거나 다중회귀를 통해 다른 변수의 영향을 통제하여 설명력을 평가할 것을 권장합니다.</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수치 변수 페어플롯</a:t>
            </a:r>
          </a:p>
        </p:txBody>
      </p:sp>
      <p:pic>
        <p:nvPicPr>
          <p:cNvPr descr="../plots/10_pairplot_numeric.png" id="0" name="Picture 1"/>
          <p:cNvPicPr>
            <a:picLocks noGrp="1" noChangeAspect="1"/>
          </p:cNvPicPr>
          <p:nvPr/>
        </p:nvPicPr>
        <p:blipFill>
          <a:blip r:embed="rId2"/>
          <a:stretch>
            <a:fillRect/>
          </a:stretch>
        </p:blipFill>
        <p:spPr bwMode="auto">
          <a:xfrm>
            <a:off x="3009900" y="1193800"/>
            <a:ext cx="3111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수치 변수 페어플롯</a:t>
            </a:r>
          </a:p>
        </p:txBody>
      </p:sp>
      <p:sp>
        <p:nvSpPr>
          <p:cNvPr id="3" name="Content Placeholder 2"/>
          <p:cNvSpPr>
            <a:spLocks noGrp="1"/>
          </p:cNvSpPr>
          <p:nvPr>
            <p:ph idx="1"/>
          </p:nvPr>
        </p:nvSpPr>
        <p:spPr/>
        <p:txBody>
          <a:bodyPr/>
          <a:lstStyle/>
          <a:p>
            <a:pPr lvl="0" indent="0" marL="0">
              <a:buNone/>
            </a:pPr>
            <a:r>
              <a:rPr/>
              <a:t>페어플롯은 수치 변수 간의 전반적 관계와 분포를 한눈에 보여주어 변수들 간 상관 구조를 탐색하는 데 유용합니다. 대각선에는 각 변수의 분포가, 비대각선에는 변수쌍의 산점도(또는 밀도)와 종별 색상 구분이 나타나며, 이를 통해 유의미한 관계 또는 다중공선성 우려 변수들을 식별할 수 있습니다. 탐색 결과를 바탕으로 회귀모형의 변수 선택, 차원축소(PCA) 혹은 상호작용 항 검토 등의 후속 작업을 설계할 수 있습니다.</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수치 변수 상관관계</a:t>
            </a:r>
          </a:p>
        </p:txBody>
      </p:sp>
      <p:pic>
        <p:nvPicPr>
          <p:cNvPr descr="../plots/11_heatmap_corr.png" id="0" name="Picture 1"/>
          <p:cNvPicPr>
            <a:picLocks noGrp="1" noChangeAspect="1"/>
          </p:cNvPicPr>
          <p:nvPr/>
        </p:nvPicPr>
        <p:blipFill>
          <a:blip r:embed="rId2"/>
          <a:stretch>
            <a:fillRect/>
          </a:stretch>
        </p:blipFill>
        <p:spPr bwMode="auto">
          <a:xfrm>
            <a:off x="3022600" y="1193800"/>
            <a:ext cx="3111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수치 변수 상관관계</a:t>
            </a:r>
          </a:p>
        </p:txBody>
      </p:sp>
      <p:sp>
        <p:nvSpPr>
          <p:cNvPr id="3" name="Content Placeholder 2"/>
          <p:cNvSpPr>
            <a:spLocks noGrp="1"/>
          </p:cNvSpPr>
          <p:nvPr>
            <p:ph idx="1"/>
          </p:nvPr>
        </p:nvSpPr>
        <p:spPr/>
        <p:txBody>
          <a:bodyPr/>
          <a:lstStyle/>
          <a:p>
            <a:pPr lvl="0" indent="0" marL="0">
              <a:buNone/>
            </a:pPr>
            <a:r>
              <a:rPr/>
              <a:t>상관 히트맵은 수치 변수 간의 상관계수를 시각적으로 제시하며, 지느러미 길이와 체중 사이의 강한 양의 상관 등 유의한 관계를 한눈에 파악할 수 있습니다. 높은 상관 관계는 예측모형에서 중요한 피처가 될 수 있으나, 변수 간 다중공선성은 회귀모형의 해석성을 저해하므로 주의해야 합니다. 상관은 인과를 의미하지 않으므로, 추가적인 실험적/도메인 지식을 바탕으로 해석을 보완해야 합니다.</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부리 길이 스웜플롯</a:t>
            </a:r>
          </a:p>
        </p:txBody>
      </p:sp>
      <p:pic>
        <p:nvPicPr>
          <p:cNvPr descr="../plots/12_swarm_bill_length_by_species.png"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부리 길이 스웜플롯</a:t>
            </a:r>
          </a:p>
        </p:txBody>
      </p:sp>
      <p:sp>
        <p:nvSpPr>
          <p:cNvPr id="3" name="Content Placeholder 2"/>
          <p:cNvSpPr>
            <a:spLocks noGrp="1"/>
          </p:cNvSpPr>
          <p:nvPr>
            <p:ph idx="1"/>
          </p:nvPr>
        </p:nvSpPr>
        <p:spPr/>
        <p:txBody>
          <a:bodyPr/>
          <a:lstStyle/>
          <a:p>
            <a:pPr lvl="0" indent="0" marL="0">
              <a:buNone/>
            </a:pPr>
            <a:r>
              <a:rPr/>
              <a:t>스웜플롯은 각 개체 점을 보여주어 분포의 밀도와 이상치를 동시에 파악할 수 있으며, 종별로 개체 분포의 겹침 여부를 확인할 수 있습니다. 점들의 분포가 넓을수록 군집 내 변이가 큼을 의미하며, 종 간 중첩은 서로 다른 종이 유사한 형태적 특성을 공유할 가능성을 시사합니다. 세부 관찰을 통해 표본의 균질성 여부와 개체 수준의 특이치를 확인하는 데 유리합니다.</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섬별 부리 길이 분포</a:t>
            </a:r>
          </a:p>
        </p:txBody>
      </p:sp>
      <p:pic>
        <p:nvPicPr>
          <p:cNvPr descr="../plots/13_facet_bill_length_by_island.png" id="0" name="Picture 1"/>
          <p:cNvPicPr>
            <a:picLocks noGrp="1" noChangeAspect="1"/>
          </p:cNvPicPr>
          <p:nvPr/>
        </p:nvPicPr>
        <p:blipFill>
          <a:blip r:embed="rId2"/>
          <a:stretch>
            <a:fillRect/>
          </a:stretch>
        </p:blipFill>
        <p:spPr bwMode="auto">
          <a:xfrm>
            <a:off x="457200" y="1206500"/>
            <a:ext cx="8229600" cy="28702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섬별 부리 길이 분포</a:t>
            </a:r>
          </a:p>
        </p:txBody>
      </p:sp>
      <p:sp>
        <p:nvSpPr>
          <p:cNvPr id="3" name="Content Placeholder 2"/>
          <p:cNvSpPr>
            <a:spLocks noGrp="1"/>
          </p:cNvSpPr>
          <p:nvPr>
            <p:ph idx="1"/>
          </p:nvPr>
        </p:nvSpPr>
        <p:spPr/>
        <p:txBody>
          <a:bodyPr/>
          <a:lstStyle/>
          <a:p>
            <a:pPr lvl="0" indent="0" marL="0">
              <a:buNone/>
            </a:pPr>
            <a:r>
              <a:rPr/>
              <a:t>섬별 분포를 보여주는 Facet 그래프는 지역적 특성이 형태에 미치는 영향을 탐색하는 데 유용합니다. 특정 섬에서 우세한 종이 존재하거나 평균 부리 길이가 상이하게 나타나면, 그 섬의 생태적 조건(먹이, 지형 등)이 종 분포와 형태에 영향을 준다는 가설을 세울 수 있습니다. 섬 간 비교는 보전 전략이나 생태학적 연구 설계에 중요한 단서를 제공하므로, 지역별 표본 수와 수집 시기 등을 고려한 추가 검증이 필요합니다.</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섬별 종 개수 (그룹화 막대)</a:t>
            </a:r>
          </a:p>
        </p:txBody>
      </p:sp>
      <p:pic>
        <p:nvPicPr>
          <p:cNvPr descr="../plots/14_groupbar_island_species.png"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섬별 종 개수 (그룹화 막대)</a:t>
            </a:r>
          </a:p>
        </p:txBody>
      </p:sp>
      <p:sp>
        <p:nvSpPr>
          <p:cNvPr id="3" name="Content Placeholder 2"/>
          <p:cNvSpPr>
            <a:spLocks noGrp="1"/>
          </p:cNvSpPr>
          <p:nvPr>
            <p:ph idx="1"/>
          </p:nvPr>
        </p:nvSpPr>
        <p:spPr/>
        <p:txBody>
          <a:bodyPr/>
          <a:lstStyle/>
          <a:p>
            <a:pPr lvl="0" indent="0" marL="0">
              <a:buNone/>
            </a:pPr>
            <a:r>
              <a:rPr/>
              <a:t>그룹화 막대그래프는 각 섬에 존재하는 종의 상대적인 빈도를 보여주어 섬별 종 구성의 차이를 직관적으로 드러냅니다. 예를 들어 특정 섬에서 Gentoo가 우세하다면 해당 섬의 환경이 Gentoo의 생태적 요구를 충족시키는 것으로 해석할 수 있습니다. 정량적 비교를 위해 교차표 및 통계적 검정을 병행하면, 관찰된 차이가 우연인지 유의한 패턴인지 판단할 수 있습니다.</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섬별 종 개수 (누적 막대)</a:t>
            </a:r>
          </a:p>
        </p:txBody>
      </p:sp>
      <p:pic>
        <p:nvPicPr>
          <p:cNvPr descr="../plots/15_stackedbar_island_species.png"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섬별 종 개수 (누적 막대)</a:t>
            </a:r>
          </a:p>
        </p:txBody>
      </p:sp>
      <p:sp>
        <p:nvSpPr>
          <p:cNvPr id="3" name="Content Placeholder 2"/>
          <p:cNvSpPr>
            <a:spLocks noGrp="1"/>
          </p:cNvSpPr>
          <p:nvPr>
            <p:ph idx="1"/>
          </p:nvPr>
        </p:nvSpPr>
        <p:spPr/>
        <p:txBody>
          <a:bodyPr/>
          <a:lstStyle/>
          <a:p>
            <a:pPr lvl="0" indent="0" marL="0">
              <a:buNone/>
            </a:pPr>
            <a:r>
              <a:rPr/>
              <a:t>누적 막대그래프는 각 섬의 전체 개체수 중 종별 기여도를 보여주며, 전체 분포에서 종의 비중을 직관적으로 파악할 수 있습니다. 이 시각화는 특정 섬에서의 생태적 균형이나 종 공존 구조를 이해하는 데 도움을 줍니다. 또한 누적형태는 상대 비율을 강조하므로, 절대 수치가 중요한 경우에는 별도의 표(교차표)를 함께 제시하는 것이 바람직합니다.</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부리 길이 히스토그램 (mm)</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부리 길이 분포 (히스토그램)</a:t>
            </a:r>
          </a:p>
        </p:txBody>
      </p:sp>
      <p:pic>
        <p:nvPicPr>
          <p:cNvPr descr="../plots/02_hist_bill_length_by_species.png" id="0" name="Picture 1"/>
          <p:cNvPicPr>
            <a:picLocks noGrp="1" noChangeAspect="1"/>
          </p:cNvPicPr>
          <p:nvPr/>
        </p:nvPicPr>
        <p:blipFill>
          <a:blip r:embed="rId2"/>
          <a:stretch>
            <a:fillRect/>
          </a:stretch>
        </p:blipFill>
        <p:spPr bwMode="auto">
          <a:xfrm>
            <a:off x="2616200" y="1193800"/>
            <a:ext cx="3898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부리 길이 분포 (히스토그램)</a:t>
            </a:r>
          </a:p>
        </p:txBody>
      </p:sp>
      <p:sp>
        <p:nvSpPr>
          <p:cNvPr id="3" name="Content Placeholder 2"/>
          <p:cNvSpPr>
            <a:spLocks noGrp="1"/>
          </p:cNvSpPr>
          <p:nvPr>
            <p:ph idx="1"/>
          </p:nvPr>
        </p:nvSpPr>
        <p:spPr/>
        <p:txBody>
          <a:bodyPr/>
          <a:lstStyle/>
          <a:p>
            <a:pPr lvl="0" indent="0" marL="0">
              <a:buNone/>
            </a:pPr>
            <a:r>
              <a:rPr/>
              <a:t>종별 히스토그램을 통해 각 종에서 부리 길이 분포 차이가 명확히 드러납니다. 예컨대 Adelie는 비교적 짧은 부리 쪽에 몰려 있고, Gentoo는 긴 쪽으로 분포가 이동해 있음을 확인할 수 있습니다. 이러한 차이는 먹이 선택이나 먹이 섭취 방식의 차이에 따른 적응적 결과로 해석될 수 있습니다. 또한 분포의 겹침 정도는 종 간 생태적 유사성 또는 측정 분산을 시사합니다. 종 구분이 비교적 명확한 변수로 보이므로, 분류(classification) 모델에서 유용한 피처가 될 가능성이 높습니다. 다만 종 간 표본수 차이를 보정해 비교해야 보다 공정한 결론을 얻을 수 있습니다.</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지느러미 길이 KDE</a:t>
            </a:r>
          </a:p>
        </p:txBody>
      </p:sp>
      <p:pic>
        <p:nvPicPr>
          <p:cNvPr descr="../plots/03_kde_flipper_length.png" id="0" name="Picture 1"/>
          <p:cNvPicPr>
            <a:picLocks noGrp="1" noChangeAspect="1"/>
          </p:cNvPicPr>
          <p:nvPr/>
        </p:nvPicPr>
        <p:blipFill>
          <a:blip r:embed="rId2"/>
          <a:stretch>
            <a:fillRect/>
          </a:stretch>
        </p:blipFill>
        <p:spPr bwMode="auto">
          <a:xfrm>
            <a:off x="2540000" y="1193800"/>
            <a:ext cx="4064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지느러미 길이 KDE</a:t>
            </a:r>
          </a:p>
        </p:txBody>
      </p:sp>
      <p:sp>
        <p:nvSpPr>
          <p:cNvPr id="3" name="Content Placeholder 2"/>
          <p:cNvSpPr>
            <a:spLocks noGrp="1"/>
          </p:cNvSpPr>
          <p:nvPr>
            <p:ph idx="1"/>
          </p:nvPr>
        </p:nvSpPr>
        <p:spPr/>
        <p:txBody>
          <a:bodyPr/>
          <a:lstStyle/>
          <a:p>
            <a:pPr lvl="0" indent="0" marL="0">
              <a:buNone/>
            </a:pPr>
            <a:r>
              <a:rPr/>
              <a:t>지느러미 길이의 KDE는 종별 지느러미 길이 분포의 연속적 형태를 제공합니다. Gentoo는 장대한 지느러미를 보이는 반면, Adelie는 상대적으로 짧은 값을 중심으로 분포가 형성되어 있어 종간 차이가 지속적으로 관찰됩니다. KDE의 봉우리 위치와 폭은 각 종의 중심 경향과 변이를 나타내며, 겹침이 적은 경우 해당 변수는 종 식별에 도움이 됩니다. 또한 KDE는 이상치의 영향을 완만하게 보여주어 히스토그램보다 부드러운 비교를 가능하게 합니다. 이 결과는 체중과의 상관성 관찰(회귀/상관분석)과 결합하면 생태적 의미를 더 풍부하게 해석할 수 있습니다.</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부리 길이 박스플롯</a:t>
            </a:r>
          </a:p>
        </p:txBody>
      </p:sp>
      <p:pic>
        <p:nvPicPr>
          <p:cNvPr descr="../plots/04_box_bill_length_by_species.png"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부리 길이 박스플롯</a:t>
            </a:r>
          </a:p>
        </p:txBody>
      </p:sp>
      <p:sp>
        <p:nvSpPr>
          <p:cNvPr id="3" name="Content Placeholder 2"/>
          <p:cNvSpPr>
            <a:spLocks noGrp="1"/>
          </p:cNvSpPr>
          <p:nvPr>
            <p:ph idx="1"/>
          </p:nvPr>
        </p:nvSpPr>
        <p:spPr/>
        <p:txBody>
          <a:bodyPr/>
          <a:lstStyle/>
          <a:p>
            <a:pPr lvl="0" indent="0" marL="0">
              <a:buNone/>
            </a:pPr>
            <a:r>
              <a:rPr/>
              <a:t>박스플롯은 종별 부리 길이의 중앙값, 사분위수 범위 및 잠재적 이상치를 직관적으로 보여줍니다. 여기서 Gentoo는 높은 중앙값과 넓은 IQR을 보여 체구 및 부리 길이의 변이가 큼을 시사합니다. Adelie는 중앙값이 낮고 IQR이 좁아 집단 내부 변이가 작다는 것을 의미할 수 있습니다. 이상치 점은 개체 수준의 특이한 표본을 나타내며, 생물학적 변이인지 측정오류인지 추가 확인이 필요합니다. 이 플롯은 다양한 그룹 간 분포 비교와 이상치 식별에 유용하며, 통계적 검정(예: ANOVA, Kruskal-Wallis)으로 그룹 차이를 확인할 것을 권장합니다.</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종별 부리 깊이 바이올린플롯</a:t>
            </a:r>
          </a:p>
        </p:txBody>
      </p:sp>
      <p:pic>
        <p:nvPicPr>
          <p:cNvPr descr="../plots/05_violin_bill_depth_by_species.png"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종별 부리 깊이 바이올린플롯</a:t>
            </a:r>
          </a:p>
        </p:txBody>
      </p:sp>
      <p:sp>
        <p:nvSpPr>
          <p:cNvPr id="3" name="Content Placeholder 2"/>
          <p:cNvSpPr>
            <a:spLocks noGrp="1"/>
          </p:cNvSpPr>
          <p:nvPr>
            <p:ph idx="1"/>
          </p:nvPr>
        </p:nvSpPr>
        <p:spPr/>
        <p:txBody>
          <a:bodyPr/>
          <a:lstStyle/>
          <a:p>
            <a:pPr lvl="0" indent="0" marL="0">
              <a:buNone/>
            </a:pPr>
            <a:r>
              <a:rPr/>
              <a:t>바이올린플롯은 밀도추정과 함께 각 종의 분포 형태를 보여주어 부리 깊이의 전체적인 분포 및 군집도를 파악하기에 유리합니다. 종별로 밀도 모양이 다르다면, 서로 다른 먹이 취득 전략이나 형태적 적응을 반영할 수 있습니다. 예를 들어 특정 종에서 이중봉우리(double peak)가 관찰되면, 두 하위집단(성별 혹은 연령층)에 따른 차이가 존재할 가능성을 시사합니다. 관찰된 분포형태를 바탕으로 추가 군집 분석 또는 혼합분포 모델을 적용하면 더 세부적인 해석이 가능합니다.</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2025-12-23T13:18:50Z</dcterms:created>
  <dcterms:modified xsi:type="dcterms:W3CDTF">2025-12-23T13:18:50Z</dcterms:modified>
</cp:coreProperties>
</file>

<file path=docProps/custom.xml><?xml version="1.0" encoding="utf-8"?>
<Properties xmlns="http://schemas.openxmlformats.org/officeDocument/2006/custom-properties" xmlns:vt="http://schemas.openxmlformats.org/officeDocument/2006/docPropsVTypes"/>
</file>